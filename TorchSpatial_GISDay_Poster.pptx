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D1BC50-1623-4279-460A-4AD6E9E34041}" name="Lan Mu" initials="LM" userId="S::mulan@uga.edu::8878c827-c0fa-4fd8-8cf8-9b2814546e8d" providerId="AD"/>
  <p188:author id="{67DE0255-6D36-B969-E4F2-0DFAB7A37D07}" name="Nemin Wu" initials="NW" userId="Nemin Wu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0D7"/>
    <a:srgbClr val="FFE699"/>
    <a:srgbClr val="A9D18E"/>
    <a:srgbClr val="E2F0D9"/>
    <a:srgbClr val="FFF2CC"/>
    <a:srgbClr val="D4E8CC"/>
    <a:srgbClr val="D1ECCB"/>
    <a:srgbClr val="D0F1D5"/>
    <a:srgbClr val="C5F2D0"/>
    <a:srgbClr val="7FB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5" autoAdjust="0"/>
    <p:restoredTop sz="95500"/>
  </p:normalViewPr>
  <p:slideViewPr>
    <p:cSldViewPr snapToGrid="0">
      <p:cViewPr>
        <p:scale>
          <a:sx n="93" d="100"/>
          <a:sy n="93" d="100"/>
        </p:scale>
        <p:origin x="-3168" y="-5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min Wu" userId="aa4fcc0c-7b87-44a4-b646-d23f86e348d5" providerId="ADAL" clId="{59D15519-83F1-6740-99DC-375FC817E2C1}"/>
    <pc:docChg chg="modSld">
      <pc:chgData name="Nemin Wu" userId="aa4fcc0c-7b87-44a4-b646-d23f86e348d5" providerId="ADAL" clId="{59D15519-83F1-6740-99DC-375FC817E2C1}" dt="2025-05-21T18:44:05.629" v="23"/>
      <pc:docMkLst>
        <pc:docMk/>
      </pc:docMkLst>
      <pc:sldChg chg="modSp mod">
        <pc:chgData name="Nemin Wu" userId="aa4fcc0c-7b87-44a4-b646-d23f86e348d5" providerId="ADAL" clId="{59D15519-83F1-6740-99DC-375FC817E2C1}" dt="2025-05-21T18:44:05.629" v="23"/>
        <pc:sldMkLst>
          <pc:docMk/>
          <pc:sldMk cId="2534882840" sldId="256"/>
        </pc:sldMkLst>
        <pc:spChg chg="mod">
          <ac:chgData name="Nemin Wu" userId="aa4fcc0c-7b87-44a4-b646-d23f86e348d5" providerId="ADAL" clId="{59D15519-83F1-6740-99DC-375FC817E2C1}" dt="2025-05-21T18:44:05.629" v="23"/>
          <ac:spMkLst>
            <pc:docMk/>
            <pc:sldMk cId="2534882840" sldId="256"/>
            <ac:spMk id="1101" creationId="{D26771B5-4B80-9D21-6113-5D211F104F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92504-C187-314D-99D9-A13F78AF5806}" type="datetimeFigureOut">
              <a:rPr lang="en-US" smtClean="0"/>
              <a:t>5/21/25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83D53-7EE9-0449-A0B2-B8D64AED0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78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Western Chickadee vs. Black-capped Chickadee</a:t>
            </a:r>
            <a:r>
              <a:rPr lang="en-US" dirty="0"/>
              <a:t>: These two bird species are very similar in appearance, making it challenging to differentiate them based on physical characteristics alone. However, the </a:t>
            </a:r>
            <a:r>
              <a:rPr lang="en-US" b="1" dirty="0"/>
              <a:t>Western Chickadee</a:t>
            </a:r>
            <a:r>
              <a:rPr lang="en-US" dirty="0"/>
              <a:t> is primarily found in the forests of western North America, while the </a:t>
            </a:r>
            <a:r>
              <a:rPr lang="en-US" b="1" dirty="0"/>
              <a:t>Black-capped Chickadee</a:t>
            </a:r>
            <a:r>
              <a:rPr lang="en-US" dirty="0"/>
              <a:t> has a broader range, primarily distributed in central and eastern North America. Therefore, having precise geographic location data can significantly aid in distinguishing between these two species.</a:t>
            </a:r>
          </a:p>
          <a:p>
            <a:r>
              <a:rPr lang="en-US" b="1" dirty="0"/>
              <a:t>California Pelican vs. Brown Pelican</a:t>
            </a:r>
            <a:r>
              <a:rPr lang="en-US" dirty="0"/>
              <a:t>: Although these two pelican species look alike, the </a:t>
            </a:r>
            <a:r>
              <a:rPr lang="en-US" b="1" dirty="0"/>
              <a:t>California Pelican</a:t>
            </a:r>
            <a:r>
              <a:rPr lang="en-US" dirty="0"/>
              <a:t> is mainly distributed along the western coast of the United States, while the </a:t>
            </a:r>
            <a:r>
              <a:rPr lang="en-US" b="1" dirty="0"/>
              <a:t>Brown Pelican</a:t>
            </a:r>
            <a:r>
              <a:rPr lang="en-US" dirty="0"/>
              <a:t> has a wider distribution, including the Gulf of Mexico and the Atlantic coast. Geographic distribution information is crucial for differentiating between these species as well.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83D53-7EE9-0449-A0B2-B8D64AED0F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0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4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26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80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30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8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6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23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85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061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26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90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4B749-963A-49EB-8669-2C5CD2205332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40965-3919-45E5-94C1-5E8A7D60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4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8.emf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24" Type="http://schemas.openxmlformats.org/officeDocument/2006/relationships/image" Target="../media/image21.emf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0.jpe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流程图: 过程 28">
            <a:extLst>
              <a:ext uri="{FF2B5EF4-FFF2-40B4-BE49-F238E27FC236}">
                <a16:creationId xmlns:a16="http://schemas.microsoft.com/office/drawing/2014/main" id="{87380B03-BE64-4B52-B2B6-9727278C59D4}"/>
              </a:ext>
            </a:extLst>
          </p:cNvPr>
          <p:cNvSpPr/>
          <p:nvPr/>
        </p:nvSpPr>
        <p:spPr>
          <a:xfrm>
            <a:off x="1223228" y="5371659"/>
            <a:ext cx="12164357" cy="26560892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流程图: 过程 29">
            <a:extLst>
              <a:ext uri="{FF2B5EF4-FFF2-40B4-BE49-F238E27FC236}">
                <a16:creationId xmlns:a16="http://schemas.microsoft.com/office/drawing/2014/main" id="{43E76478-0E44-4D3B-B43A-D5C3ACB37096}"/>
              </a:ext>
            </a:extLst>
          </p:cNvPr>
          <p:cNvSpPr/>
          <p:nvPr/>
        </p:nvSpPr>
        <p:spPr>
          <a:xfrm>
            <a:off x="14061959" y="5371659"/>
            <a:ext cx="15771100" cy="26595732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9BF37DF1-0DB6-4E75-AFE4-997503EB4696}"/>
              </a:ext>
            </a:extLst>
          </p:cNvPr>
          <p:cNvSpPr/>
          <p:nvPr/>
        </p:nvSpPr>
        <p:spPr>
          <a:xfrm>
            <a:off x="30506452" y="5371659"/>
            <a:ext cx="12161520" cy="20850361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indent="-457200">
              <a:buFont typeface="Wingdings" panose="05000000000000000000" pitchFamily="2" charset="2"/>
              <a:buChar char="n"/>
            </a:pPr>
            <a:endParaRPr lang="en-US" altLang="zh-CN" sz="3000">
              <a:latin typeface="Arial Nova" panose="020B05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FA6ACD5-2549-4B17-B020-0FFF9B547ECA}"/>
              </a:ext>
            </a:extLst>
          </p:cNvPr>
          <p:cNvSpPr txBox="1"/>
          <p:nvPr/>
        </p:nvSpPr>
        <p:spPr>
          <a:xfrm>
            <a:off x="30626361" y="26605447"/>
            <a:ext cx="64342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b="1" dirty="0">
                <a:solidFill>
                  <a:srgbClr val="B8001F"/>
                </a:solidFill>
                <a:latin typeface="DIN Condensed" pitchFamily="2" charset="0"/>
                <a:ea typeface="Microsoft YaHei" panose="020B0503020204020204" pitchFamily="34" charset="-122"/>
              </a:rPr>
              <a:t>Selected References</a:t>
            </a:r>
            <a:endParaRPr kumimoji="1" lang="zh-CN" altLang="en-US" sz="4800" b="1" dirty="0">
              <a:solidFill>
                <a:srgbClr val="B8001F"/>
              </a:solidFill>
              <a:latin typeface="DIN Condensed" pitchFamily="2" charset="0"/>
              <a:ea typeface="Microsoft YaHei" panose="020B0503020204020204" pitchFamily="34" charset="-122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4EE84EB-509E-4BA8-AD2C-B5EC9C68D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485" y="-1245633"/>
            <a:ext cx="8133524" cy="8133524"/>
          </a:xfrm>
          <a:prstGeom prst="rect">
            <a:avLst/>
          </a:prstGeom>
        </p:spPr>
      </p:pic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7013DABD-D16F-B990-AF74-CDD58D195B92}"/>
              </a:ext>
            </a:extLst>
          </p:cNvPr>
          <p:cNvGrpSpPr/>
          <p:nvPr/>
        </p:nvGrpSpPr>
        <p:grpSpPr>
          <a:xfrm>
            <a:off x="9518650" y="621334"/>
            <a:ext cx="24587200" cy="4474996"/>
            <a:chOff x="9093200" y="469466"/>
            <a:chExt cx="24587200" cy="447499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18172A89-B111-4548-A2C0-BA66926EDBDF}"/>
                </a:ext>
              </a:extLst>
            </p:cNvPr>
            <p:cNvGrpSpPr/>
            <p:nvPr/>
          </p:nvGrpSpPr>
          <p:grpSpPr>
            <a:xfrm>
              <a:off x="9093200" y="1239777"/>
              <a:ext cx="24587200" cy="2670126"/>
              <a:chOff x="6204858" y="6353296"/>
              <a:chExt cx="35527011" cy="2264231"/>
            </a:xfrm>
            <a:solidFill>
              <a:srgbClr val="000000"/>
            </a:solidFill>
            <a:effectLst>
              <a:outerShdw blurRad="190500" dist="101600" dir="7440000" sx="102000" sy="102000" algn="t" rotWithShape="0">
                <a:prstClr val="black">
                  <a:alpha val="32000"/>
                </a:prstClr>
              </a:outerShdw>
            </a:effectLst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B05A97D9-9808-448B-9A18-961B87839888}"/>
                  </a:ext>
                </a:extLst>
              </p:cNvPr>
              <p:cNvGrpSpPr/>
              <p:nvPr/>
            </p:nvGrpSpPr>
            <p:grpSpPr>
              <a:xfrm>
                <a:off x="6204858" y="6353296"/>
                <a:ext cx="35527011" cy="2264231"/>
                <a:chOff x="6620494" y="5355769"/>
                <a:chExt cx="35527011" cy="2264231"/>
              </a:xfrm>
              <a:grpFill/>
            </p:grpSpPr>
            <p:sp>
              <p:nvSpPr>
                <p:cNvPr id="8" name="流程图: 过程 7">
                  <a:extLst>
                    <a:ext uri="{FF2B5EF4-FFF2-40B4-BE49-F238E27FC236}">
                      <a16:creationId xmlns:a16="http://schemas.microsoft.com/office/drawing/2014/main" id="{0C2E004A-4A77-4B29-81DB-07A12ED24923}"/>
                    </a:ext>
                  </a:extLst>
                </p:cNvPr>
                <p:cNvSpPr/>
                <p:nvPr/>
              </p:nvSpPr>
              <p:spPr>
                <a:xfrm>
                  <a:off x="7184571" y="5355770"/>
                  <a:ext cx="34398857" cy="2264229"/>
                </a:xfrm>
                <a:prstGeom prst="flowChartProcess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箭头: V 形 8">
                  <a:extLst>
                    <a:ext uri="{FF2B5EF4-FFF2-40B4-BE49-F238E27FC236}">
                      <a16:creationId xmlns:a16="http://schemas.microsoft.com/office/drawing/2014/main" id="{C19D2CE8-2AA3-4658-9E65-AFBB2331E1E2}"/>
                    </a:ext>
                  </a:extLst>
                </p:cNvPr>
                <p:cNvSpPr/>
                <p:nvPr/>
              </p:nvSpPr>
              <p:spPr>
                <a:xfrm>
                  <a:off x="6620494" y="5355771"/>
                  <a:ext cx="1128155" cy="2264229"/>
                </a:xfrm>
                <a:prstGeom prst="chevron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>
                      <a:solidFill>
                        <a:schemeClr val="tx1"/>
                      </a:solidFill>
                    </a:rPr>
                    <a:t>                  </a:t>
                  </a:r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箭头: V 形 9">
                  <a:extLst>
                    <a:ext uri="{FF2B5EF4-FFF2-40B4-BE49-F238E27FC236}">
                      <a16:creationId xmlns:a16="http://schemas.microsoft.com/office/drawing/2014/main" id="{4342B760-AACF-4ED8-890F-88D962954EB5}"/>
                    </a:ext>
                  </a:extLst>
                </p:cNvPr>
                <p:cNvSpPr/>
                <p:nvPr/>
              </p:nvSpPr>
              <p:spPr>
                <a:xfrm flipH="1">
                  <a:off x="41019350" y="5355769"/>
                  <a:ext cx="1128155" cy="2264229"/>
                </a:xfrm>
                <a:prstGeom prst="chevron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>
                      <a:solidFill>
                        <a:schemeClr val="tx1"/>
                      </a:solidFill>
                    </a:rPr>
                    <a:t>                  </a:t>
                  </a:r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1C95BDA4-D4A3-49BD-BB26-1DBDB33B5B79}"/>
                  </a:ext>
                </a:extLst>
              </p:cNvPr>
              <p:cNvGrpSpPr/>
              <p:nvPr/>
            </p:nvGrpSpPr>
            <p:grpSpPr>
              <a:xfrm>
                <a:off x="6716226" y="6654512"/>
                <a:ext cx="34504274" cy="1660558"/>
                <a:chOff x="6733589" y="6654512"/>
                <a:chExt cx="34504274" cy="1660558"/>
              </a:xfrm>
              <a:grpFill/>
            </p:grpSpPr>
            <p:sp>
              <p:nvSpPr>
                <p:cNvPr id="13" name="流程图: 过程 12">
                  <a:extLst>
                    <a:ext uri="{FF2B5EF4-FFF2-40B4-BE49-F238E27FC236}">
                      <a16:creationId xmlns:a16="http://schemas.microsoft.com/office/drawing/2014/main" id="{C9FA9005-B50B-4DE3-BD35-D4C341AA1189}"/>
                    </a:ext>
                  </a:extLst>
                </p:cNvPr>
                <p:cNvSpPr/>
                <p:nvPr/>
              </p:nvSpPr>
              <p:spPr>
                <a:xfrm>
                  <a:off x="7113881" y="6655753"/>
                  <a:ext cx="33708965" cy="1659317"/>
                </a:xfrm>
                <a:prstGeom prst="flowChartProcess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箭头: V 形 13">
                  <a:extLst>
                    <a:ext uri="{FF2B5EF4-FFF2-40B4-BE49-F238E27FC236}">
                      <a16:creationId xmlns:a16="http://schemas.microsoft.com/office/drawing/2014/main" id="{5FC5ED6E-D2EC-4EE2-8A0F-EC8E6689036D}"/>
                    </a:ext>
                  </a:extLst>
                </p:cNvPr>
                <p:cNvSpPr/>
                <p:nvPr/>
              </p:nvSpPr>
              <p:spPr>
                <a:xfrm>
                  <a:off x="6733589" y="6655752"/>
                  <a:ext cx="760584" cy="1659317"/>
                </a:xfrm>
                <a:prstGeom prst="chevron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>
                      <a:solidFill>
                        <a:schemeClr val="tx1"/>
                      </a:solidFill>
                    </a:rPr>
                    <a:t>                  </a:t>
                  </a:r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箭头: V 形 15">
                  <a:extLst>
                    <a:ext uri="{FF2B5EF4-FFF2-40B4-BE49-F238E27FC236}">
                      <a16:creationId xmlns:a16="http://schemas.microsoft.com/office/drawing/2014/main" id="{96DF7A53-399D-463C-8E4B-9FA2958ED470}"/>
                    </a:ext>
                  </a:extLst>
                </p:cNvPr>
                <p:cNvSpPr/>
                <p:nvPr/>
              </p:nvSpPr>
              <p:spPr>
                <a:xfrm flipH="1">
                  <a:off x="40477279" y="6654512"/>
                  <a:ext cx="760584" cy="1659317"/>
                </a:xfrm>
                <a:prstGeom prst="chevron">
                  <a:avLst/>
                </a:prstGeom>
                <a:grpFill/>
                <a:ln w="762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>
                      <a:solidFill>
                        <a:schemeClr val="tx1"/>
                      </a:solidFill>
                    </a:rPr>
                    <a:t>                  </a:t>
                  </a:r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2" name="箭头: V 形 21">
                <a:extLst>
                  <a:ext uri="{FF2B5EF4-FFF2-40B4-BE49-F238E27FC236}">
                    <a16:creationId xmlns:a16="http://schemas.microsoft.com/office/drawing/2014/main" id="{F7BAAD11-EA1C-4FD6-916C-546E605E98FA}"/>
                  </a:ext>
                </a:extLst>
              </p:cNvPr>
              <p:cNvSpPr/>
              <p:nvPr/>
            </p:nvSpPr>
            <p:spPr>
              <a:xfrm>
                <a:off x="7043809" y="6695156"/>
                <a:ext cx="715039" cy="1584686"/>
              </a:xfrm>
              <a:prstGeom prst="chevron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                  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箭头: V 形 23">
                <a:extLst>
                  <a:ext uri="{FF2B5EF4-FFF2-40B4-BE49-F238E27FC236}">
                    <a16:creationId xmlns:a16="http://schemas.microsoft.com/office/drawing/2014/main" id="{6B652AB3-72D9-4406-96E0-4EB3532CD62D}"/>
                  </a:ext>
                </a:extLst>
              </p:cNvPr>
              <p:cNvSpPr/>
              <p:nvPr/>
            </p:nvSpPr>
            <p:spPr>
              <a:xfrm flipH="1">
                <a:off x="40246194" y="6695801"/>
                <a:ext cx="715039" cy="1584686"/>
              </a:xfrm>
              <a:prstGeom prst="chevron">
                <a:avLst/>
              </a:pr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                  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803174B7-A2E2-4A9D-BE01-D90F77CE3074}"/>
                </a:ext>
              </a:extLst>
            </p:cNvPr>
            <p:cNvGrpSpPr/>
            <p:nvPr/>
          </p:nvGrpSpPr>
          <p:grpSpPr>
            <a:xfrm>
              <a:off x="10572208" y="469466"/>
              <a:ext cx="21505631" cy="3965588"/>
              <a:chOff x="5978854" y="6586098"/>
              <a:chExt cx="14924314" cy="3755572"/>
            </a:xfrm>
            <a:effectLst>
              <a:outerShdw blurRad="228600" dist="114300" dir="5400000" sx="102000" sy="102000" algn="t" rotWithShape="0">
                <a:prstClr val="black">
                  <a:alpha val="56000"/>
                </a:prstClr>
              </a:outerShdw>
            </a:effectLst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1BB2058-F8D0-4503-9BEE-BAC1BB041D5A}"/>
                  </a:ext>
                </a:extLst>
              </p:cNvPr>
              <p:cNvSpPr/>
              <p:nvPr/>
            </p:nvSpPr>
            <p:spPr>
              <a:xfrm>
                <a:off x="5978854" y="6586098"/>
                <a:ext cx="14924314" cy="3755572"/>
              </a:xfrm>
              <a:prstGeom prst="rect">
                <a:avLst/>
              </a:prstGeom>
              <a:solidFill>
                <a:srgbClr val="B800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9E5C3C6-B4DE-429F-966F-CE54F7FA73E0}"/>
                  </a:ext>
                </a:extLst>
              </p:cNvPr>
              <p:cNvSpPr/>
              <p:nvPr/>
            </p:nvSpPr>
            <p:spPr>
              <a:xfrm>
                <a:off x="6247905" y="6931308"/>
                <a:ext cx="14315705" cy="3065152"/>
              </a:xfrm>
              <a:prstGeom prst="rect">
                <a:avLst/>
              </a:prstGeom>
              <a:solidFill>
                <a:srgbClr val="B8001F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B66A01-65F6-4D18-AF11-0EAB2581DE46}"/>
                </a:ext>
              </a:extLst>
            </p:cNvPr>
            <p:cNvSpPr txBox="1"/>
            <p:nvPr/>
          </p:nvSpPr>
          <p:spPr>
            <a:xfrm>
              <a:off x="10643143" y="1004922"/>
              <a:ext cx="21383896" cy="393954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zh-CN" sz="6000" b="1" dirty="0" err="1">
                  <a:solidFill>
                    <a:schemeClr val="bg1"/>
                  </a:solidFill>
                  <a:latin typeface="Arial Nova"/>
                  <a:ea typeface="等线"/>
                  <a:cs typeface="Arial"/>
                </a:rPr>
                <a:t>TorchSpatial</a:t>
              </a:r>
              <a:r>
                <a:rPr lang="en-US" altLang="zh-CN" sz="6000" b="1" dirty="0">
                  <a:solidFill>
                    <a:schemeClr val="bg1"/>
                  </a:solidFill>
                  <a:latin typeface="Arial Nova"/>
                  <a:ea typeface="等线"/>
                  <a:cs typeface="Arial"/>
                </a:rPr>
                <a:t>: A Location Encoding Framework and Benchmark for Spatial Representation Learning</a:t>
              </a:r>
            </a:p>
            <a:p>
              <a:pPr algn="ctr"/>
              <a:endParaRPr lang="en-US" altLang="zh-CN" sz="800" dirty="0">
                <a:solidFill>
                  <a:schemeClr val="bg1"/>
                </a:solidFill>
                <a:latin typeface="Arial Nova" panose="020B05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Nemin Wu*, Qian Cao*, </a:t>
              </a:r>
              <a:r>
                <a:rPr lang="en-US" altLang="zh-CN" sz="2800" dirty="0" err="1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Zhangyu</a:t>
              </a:r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Wang, </a:t>
              </a:r>
              <a:r>
                <a:rPr lang="en-US" altLang="zh-CN" sz="2800" dirty="0" err="1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Zeping</a:t>
              </a:r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Liu, Yanlin Qi, </a:t>
              </a:r>
              <a:r>
                <a:rPr lang="en-US" altLang="zh-CN" sz="2800" dirty="0" err="1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Jielu</a:t>
              </a:r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Zhang, </a:t>
              </a:r>
            </a:p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Joshua Ni, X. Angela Yao, </a:t>
              </a:r>
              <a:r>
                <a:rPr lang="en-US" altLang="zh-CN" sz="2800" dirty="0" err="1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Hongxu</a:t>
              </a:r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Ma, Lan Mu,</a:t>
              </a:r>
              <a:r>
                <a:rPr lang="zh-CN" altLang="en-US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Stefano </a:t>
              </a:r>
              <a:r>
                <a:rPr lang="en-US" altLang="zh-CN" sz="2800" dirty="0" err="1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Ermon</a:t>
              </a:r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, Tanuja </a:t>
              </a:r>
              <a:r>
                <a:rPr lang="en-US" altLang="zh-CN" sz="2800" dirty="0" err="1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Ganu</a:t>
              </a:r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, Akshay Nambi, Ni Lao, </a:t>
              </a:r>
              <a:r>
                <a:rPr lang="en-US" altLang="zh-CN" sz="2800" dirty="0" err="1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Gengchen</a:t>
              </a:r>
              <a:r>
                <a:rPr lang="en-US" altLang="zh-CN" sz="2800" dirty="0">
                  <a:solidFill>
                    <a:schemeClr val="bg1"/>
                  </a:solidFill>
                  <a:latin typeface="Arial Nova" panose="020B05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 Mai†</a:t>
              </a:r>
            </a:p>
            <a:p>
              <a:pPr algn="ctr"/>
              <a:endParaRPr lang="en-US" altLang="zh-CN" sz="2800" dirty="0">
                <a:solidFill>
                  <a:schemeClr val="bg1"/>
                </a:solidFill>
                <a:latin typeface="Arial Nova" panose="020B05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algn="ctr"/>
              <a:endParaRPr lang="zh-CN" altLang="en-US" sz="3600" b="1" dirty="0">
                <a:solidFill>
                  <a:schemeClr val="bg1"/>
                </a:solidFill>
                <a:latin typeface="Arial Nova" panose="020B05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B0D7E397-1422-463D-9522-729386CE46C4}"/>
              </a:ext>
            </a:extLst>
          </p:cNvPr>
          <p:cNvSpPr txBox="1"/>
          <p:nvPr/>
        </p:nvSpPr>
        <p:spPr>
          <a:xfrm>
            <a:off x="1919235" y="7088796"/>
            <a:ext cx="10944197" cy="50937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altLang="zh-CN" sz="3500" b="1" i="1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Spatial representation learning (SRL):</a:t>
            </a:r>
          </a:p>
          <a:p>
            <a:pPr algn="just"/>
            <a:r>
              <a:rPr lang="en-US" altLang="zh-CN" sz="35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set of technique learning neural spatial representations from spatial data in their </a:t>
            </a:r>
            <a:r>
              <a:rPr lang="en-US" altLang="zh-CN" sz="3500" b="1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native formats </a:t>
            </a:r>
            <a:r>
              <a:rPr lang="en-US" altLang="zh-CN" sz="35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 avoiding manual feature engineering or data conversion</a:t>
            </a:r>
            <a:r>
              <a:rPr lang="en-US" altLang="zh-CN" sz="3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altLang="zh-CN" sz="1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altLang="zh-CN" sz="3500" b="1" i="1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Application:</a:t>
            </a:r>
          </a:p>
          <a:p>
            <a:pPr algn="just"/>
            <a:r>
              <a:rPr lang="en-US" altLang="zh-CN" sz="35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 planning, environmental monitoring, autonomous navigation, and precision agriculture to analyze spatial patterns, optimize resource allocation, etc.</a:t>
            </a:r>
          </a:p>
          <a:p>
            <a:pPr algn="just"/>
            <a:r>
              <a:rPr lang="en-US" altLang="zh-CN" sz="35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e.g.,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92C8FEE-7177-4732-87F3-EB4E4985EDDD}"/>
              </a:ext>
            </a:extLst>
          </p:cNvPr>
          <p:cNvSpPr txBox="1"/>
          <p:nvPr/>
        </p:nvSpPr>
        <p:spPr>
          <a:xfrm>
            <a:off x="30643612" y="27426004"/>
            <a:ext cx="12024360" cy="12926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buFont typeface="Arial"/>
              <a:buChar char="•"/>
              <a:defRPr/>
            </a:pPr>
            <a:r>
              <a:rPr lang="en-US" sz="2600" b="0" i="0" dirty="0">
                <a:solidFill>
                  <a:srgbClr val="222222"/>
                </a:solidFill>
                <a:effectLst/>
                <a:latin typeface="Arial"/>
                <a:cs typeface="Arial"/>
              </a:rPr>
              <a:t>Mac </a:t>
            </a:r>
            <a:r>
              <a:rPr lang="en-US" sz="2600" b="0" i="0" dirty="0" err="1">
                <a:solidFill>
                  <a:srgbClr val="222222"/>
                </a:solidFill>
                <a:effectLst/>
                <a:latin typeface="Arial"/>
                <a:cs typeface="Arial"/>
              </a:rPr>
              <a:t>Aodha</a:t>
            </a:r>
            <a:r>
              <a:rPr lang="en-US" sz="2600" b="0" i="0" dirty="0">
                <a:solidFill>
                  <a:srgbClr val="222222"/>
                </a:solidFill>
                <a:effectLst/>
                <a:latin typeface="Arial"/>
                <a:cs typeface="Arial"/>
              </a:rPr>
              <a:t>, Oisin, et al. (2019). "Presence-only geographical priors for fine-grained image classification." Proceedings of the IEEE/CVF International Conference on Computer Vision. 2019.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9CDA0-795B-6434-7C96-6FEAFA967335}"/>
              </a:ext>
            </a:extLst>
          </p:cNvPr>
          <p:cNvSpPr txBox="1"/>
          <p:nvPr/>
        </p:nvSpPr>
        <p:spPr>
          <a:xfrm>
            <a:off x="47661759" y="1791360"/>
            <a:ext cx="11833169" cy="14285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baseline="30000" dirty="0">
                <a:solidFill>
                  <a:srgbClr val="000000"/>
                </a:solidFill>
                <a:latin typeface="Arial Nova"/>
              </a:rPr>
              <a:t>1</a:t>
            </a:r>
            <a:r>
              <a:rPr lang="en-US" sz="2400" b="1" baseline="30000" dirty="0">
                <a:solidFill>
                  <a:srgbClr val="000000"/>
                </a:solidFill>
                <a:latin typeface="Arial Nova"/>
              </a:rPr>
              <a:t>    </a:t>
            </a:r>
            <a:r>
              <a:rPr lang="en-US" sz="3600" b="1" dirty="0">
                <a:solidFill>
                  <a:srgbClr val="000000"/>
                </a:solidFill>
                <a:latin typeface="Arial Nova"/>
              </a:rPr>
              <a:t>Department of Geography</a:t>
            </a:r>
            <a:endParaRPr lang="en-US" sz="3600" b="1" dirty="0">
              <a:solidFill>
                <a:srgbClr val="000000"/>
              </a:solidFill>
              <a:latin typeface="Arial Nova"/>
              <a:ea typeface="+mn-lt"/>
              <a:cs typeface="+mn-lt"/>
            </a:endParaRPr>
          </a:p>
          <a:p>
            <a:pPr>
              <a:lnSpc>
                <a:spcPts val="4320"/>
              </a:lnSpc>
              <a:spcBef>
                <a:spcPts val="1800"/>
              </a:spcBef>
            </a:pPr>
            <a:r>
              <a:rPr lang="en-US" sz="3600" b="1" dirty="0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	University of Georgia, Athens, GA, US</a:t>
            </a:r>
            <a:endParaRPr lang="en-US" sz="3600" dirty="0">
              <a:cs typeface="Calibri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E07A9ED-7A14-A8E0-BEE2-E925FE3BC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57369" y="28672946"/>
            <a:ext cx="3370739" cy="33707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4C22D55-9309-0AD4-2755-2ACEC8CEC0CB}"/>
              </a:ext>
            </a:extLst>
          </p:cNvPr>
          <p:cNvSpPr txBox="1"/>
          <p:nvPr/>
        </p:nvSpPr>
        <p:spPr>
          <a:xfrm>
            <a:off x="1811477" y="18371312"/>
            <a:ext cx="11051956" cy="40164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altLang="zh-CN" sz="3500" b="1" i="1" dirty="0">
                <a:solidFill>
                  <a:srgbClr val="404040"/>
                </a:solidFill>
                <a:ea typeface="等线"/>
                <a:cs typeface="Arial"/>
              </a:rPr>
              <a:t>Current challenges: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kumimoji="0" lang="en-US" altLang="zh-CN" sz="3500" b="0" i="0" u="none" strike="noStrike" kern="1200" cap="none" spc="0" normalizeH="0" baseline="0" noProof="0" dirty="0">
                <a:ln>
                  <a:noFill/>
                </a:ln>
                <a:solidFill>
                  <a:srgbClr val="B8001E"/>
                </a:solidFill>
                <a:effectLst/>
                <a:uLnTx/>
                <a:uFillTx/>
                <a:latin typeface="Calibri" panose="020F0502020204030204"/>
                <a:ea typeface="等线"/>
                <a:cs typeface="Arial"/>
              </a:rPr>
              <a:t>Lack of a community-shared framework </a:t>
            </a:r>
            <a:r>
              <a:rPr lang="en-US" altLang="zh-CN" sz="3500" dirty="0">
                <a:solidFill>
                  <a:srgbClr val="404040"/>
                </a:solidFill>
                <a:ea typeface="等线"/>
                <a:cs typeface="Arial"/>
              </a:rPr>
              <a:t>for SRL model development</a:t>
            </a:r>
            <a:endParaRPr lang="en-US" altLang="zh-CN" sz="3500" dirty="0">
              <a:solidFill>
                <a:srgbClr val="B8001E"/>
              </a:solidFill>
              <a:ea typeface="等线"/>
              <a:cs typeface="Arial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500" dirty="0">
                <a:solidFill>
                  <a:srgbClr val="B8001E"/>
                </a:solidFill>
                <a:latin typeface="Calibri" panose="020F0502020204030204"/>
                <a:ea typeface="等线"/>
                <a:cs typeface="Arial"/>
              </a:rPr>
              <a:t>Lack of benchmarks </a:t>
            </a:r>
            <a:r>
              <a:rPr lang="en-US" altLang="zh-CN" sz="3500" dirty="0">
                <a:solidFill>
                  <a:srgbClr val="404040"/>
                </a:solidFill>
                <a:ea typeface="等线"/>
                <a:cs typeface="Arial"/>
              </a:rPr>
              <a:t>to systematically evaluate the location encoders’ impact on model performance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3500" dirty="0">
                <a:solidFill>
                  <a:srgbClr val="B8001E"/>
                </a:solidFill>
                <a:latin typeface="Calibri" panose="020F0502020204030204"/>
                <a:ea typeface="等线"/>
                <a:cs typeface="Arial"/>
              </a:rPr>
              <a:t>Lack of evaluations </a:t>
            </a:r>
            <a:r>
              <a:rPr lang="en-US" altLang="zh-CN" sz="3500" dirty="0">
                <a:solidFill>
                  <a:srgbClr val="404040"/>
                </a:solidFill>
                <a:ea typeface="等线"/>
                <a:cs typeface="Arial"/>
              </a:rPr>
              <a:t>on the geographic bias of geo-aware AI approaches</a:t>
            </a:r>
            <a:endParaRPr lang="en-US" altLang="zh-CN" sz="3500" b="1" i="1" dirty="0">
              <a:solidFill>
                <a:srgbClr val="404040"/>
              </a:solidFill>
              <a:ea typeface="等线"/>
              <a:cs typeface="Arial"/>
            </a:endParaRPr>
          </a:p>
          <a:p>
            <a:pPr algn="just"/>
            <a:endParaRPr lang="en-US" altLang="zh-CN" sz="1000" b="1" i="1" dirty="0">
              <a:solidFill>
                <a:srgbClr val="404040"/>
              </a:solidFill>
              <a:ea typeface="等线"/>
              <a:cs typeface="Arial"/>
            </a:endParaRPr>
          </a:p>
        </p:txBody>
      </p:sp>
      <p:sp>
        <p:nvSpPr>
          <p:cNvPr id="53" name="文本框 94">
            <a:extLst>
              <a:ext uri="{FF2B5EF4-FFF2-40B4-BE49-F238E27FC236}">
                <a16:creationId xmlns:a16="http://schemas.microsoft.com/office/drawing/2014/main" id="{E531AA9B-D63D-6D20-2CEA-2CF215E91761}"/>
              </a:ext>
            </a:extLst>
          </p:cNvPr>
          <p:cNvSpPr txBox="1"/>
          <p:nvPr/>
        </p:nvSpPr>
        <p:spPr>
          <a:xfrm>
            <a:off x="5214372" y="17508029"/>
            <a:ext cx="4182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>
                <a:solidFill>
                  <a:srgbClr val="B8001F"/>
                </a:solidFill>
                <a:latin typeface="Comic Sans MS" panose="030F0902030302020204" pitchFamily="66" charset="0"/>
                <a:ea typeface="Microsoft YaHei" panose="020B0503020204020204" pitchFamily="34" charset="-122"/>
              </a:rPr>
              <a:t>Motivation</a:t>
            </a:r>
            <a:endParaRPr kumimoji="1" lang="zh-CN" altLang="en-US" sz="5400" b="1" dirty="0">
              <a:solidFill>
                <a:srgbClr val="B8001F"/>
              </a:solidFill>
              <a:latin typeface="Comic Sans MS" panose="030F0902030302020204" pitchFamily="66" charset="0"/>
              <a:ea typeface="Microsoft YaHei" panose="020B0503020204020204" pitchFamily="34" charset="-122"/>
            </a:endParaRPr>
          </a:p>
        </p:txBody>
      </p:sp>
      <p:sp>
        <p:nvSpPr>
          <p:cNvPr id="54" name="文本框 94">
            <a:extLst>
              <a:ext uri="{FF2B5EF4-FFF2-40B4-BE49-F238E27FC236}">
                <a16:creationId xmlns:a16="http://schemas.microsoft.com/office/drawing/2014/main" id="{02865693-12D3-6643-CE83-C7838E8F012B}"/>
              </a:ext>
            </a:extLst>
          </p:cNvPr>
          <p:cNvSpPr txBox="1"/>
          <p:nvPr/>
        </p:nvSpPr>
        <p:spPr>
          <a:xfrm>
            <a:off x="2032927" y="22804722"/>
            <a:ext cx="10544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>
                <a:solidFill>
                  <a:srgbClr val="B8001F"/>
                </a:solidFill>
                <a:latin typeface="Comic Sans MS" panose="030F0902030302020204" pitchFamily="66" charset="0"/>
                <a:ea typeface="Microsoft YaHei" panose="020B0503020204020204" pitchFamily="34" charset="-122"/>
              </a:rPr>
              <a:t>Location Encoder Framework</a:t>
            </a:r>
          </a:p>
        </p:txBody>
      </p:sp>
      <p:grpSp>
        <p:nvGrpSpPr>
          <p:cNvPr id="92" name="组合 33">
            <a:extLst>
              <a:ext uri="{FF2B5EF4-FFF2-40B4-BE49-F238E27FC236}">
                <a16:creationId xmlns:a16="http://schemas.microsoft.com/office/drawing/2014/main" id="{982E0CBA-555B-087A-43EF-56EF769ADFD4}"/>
              </a:ext>
            </a:extLst>
          </p:cNvPr>
          <p:cNvGrpSpPr/>
          <p:nvPr/>
        </p:nvGrpSpPr>
        <p:grpSpPr>
          <a:xfrm>
            <a:off x="-15120543" y="6335415"/>
            <a:ext cx="5571081" cy="1204687"/>
            <a:chOff x="-5595419" y="8478235"/>
            <a:chExt cx="6451423" cy="1371972"/>
          </a:xfrm>
        </p:grpSpPr>
        <p:sp>
          <p:nvSpPr>
            <p:cNvPr id="94" name="流程图: 过程 30">
              <a:extLst>
                <a:ext uri="{FF2B5EF4-FFF2-40B4-BE49-F238E27FC236}">
                  <a16:creationId xmlns:a16="http://schemas.microsoft.com/office/drawing/2014/main" id="{43478BB3-3C32-2751-3C69-54E5C46A72C1}"/>
                </a:ext>
              </a:extLst>
            </p:cNvPr>
            <p:cNvSpPr/>
            <p:nvPr/>
          </p:nvSpPr>
          <p:spPr>
            <a:xfrm>
              <a:off x="-5595419" y="8496418"/>
              <a:ext cx="6451423" cy="1353788"/>
            </a:xfrm>
            <a:prstGeom prst="flowChartProcess">
              <a:avLst/>
            </a:prstGeom>
            <a:solidFill>
              <a:srgbClr val="B8001F"/>
            </a:solidFill>
            <a:ln>
              <a:noFill/>
            </a:ln>
            <a:effectLst>
              <a:outerShdw blurRad="63500" dist="50800" dir="5400000" sx="101000" sy="10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96" name="流程图: 过程 31">
              <a:extLst>
                <a:ext uri="{FF2B5EF4-FFF2-40B4-BE49-F238E27FC236}">
                  <a16:creationId xmlns:a16="http://schemas.microsoft.com/office/drawing/2014/main" id="{F1EA1155-6605-DC75-2A47-D91D2BA3BA9C}"/>
                </a:ext>
              </a:extLst>
            </p:cNvPr>
            <p:cNvSpPr/>
            <p:nvPr/>
          </p:nvSpPr>
          <p:spPr>
            <a:xfrm>
              <a:off x="-5288442" y="8496419"/>
              <a:ext cx="60416" cy="1353788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流程图: 过程 32">
              <a:extLst>
                <a:ext uri="{FF2B5EF4-FFF2-40B4-BE49-F238E27FC236}">
                  <a16:creationId xmlns:a16="http://schemas.microsoft.com/office/drawing/2014/main" id="{79C93A88-03DA-5A3D-C562-294B1207D7DD}"/>
                </a:ext>
              </a:extLst>
            </p:cNvPr>
            <p:cNvSpPr/>
            <p:nvPr/>
          </p:nvSpPr>
          <p:spPr>
            <a:xfrm>
              <a:off x="471703" y="8478235"/>
              <a:ext cx="60416" cy="1353788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99BBAA51-BBBB-16BF-6876-83AF10B1D9EC}"/>
              </a:ext>
            </a:extLst>
          </p:cNvPr>
          <p:cNvSpPr txBox="1"/>
          <p:nvPr/>
        </p:nvSpPr>
        <p:spPr>
          <a:xfrm>
            <a:off x="-14467540" y="6530242"/>
            <a:ext cx="43201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 err="1">
                <a:solidFill>
                  <a:prstClr val="white"/>
                </a:solidFill>
                <a:latin typeface="Comic Sans MS" panose="030F0902030302020204" pitchFamily="66" charset="0"/>
                <a:ea typeface="等线" panose="02010600030101010101" pitchFamily="2" charset="-122"/>
                <a:cs typeface="Arial" panose="020B0604020202020204" pitchFamily="34" charset="0"/>
              </a:rPr>
              <a:t>TorchSpatial</a:t>
            </a:r>
            <a:endParaRPr lang="zh-CN" altLang="en-US" sz="4800" dirty="0">
              <a:latin typeface="Comic Sans MS" panose="030F0902030302020204" pitchFamily="66" charset="0"/>
            </a:endParaRPr>
          </a:p>
        </p:txBody>
      </p:sp>
      <p:grpSp>
        <p:nvGrpSpPr>
          <p:cNvPr id="119" name="组合 33">
            <a:extLst>
              <a:ext uri="{FF2B5EF4-FFF2-40B4-BE49-F238E27FC236}">
                <a16:creationId xmlns:a16="http://schemas.microsoft.com/office/drawing/2014/main" id="{D1AFE20E-9B5E-4A5D-A3C0-2467FC16271D}"/>
              </a:ext>
            </a:extLst>
          </p:cNvPr>
          <p:cNvGrpSpPr/>
          <p:nvPr/>
        </p:nvGrpSpPr>
        <p:grpSpPr>
          <a:xfrm>
            <a:off x="-16291483" y="9059402"/>
            <a:ext cx="11045401" cy="1204686"/>
            <a:chOff x="-5595419" y="8496418"/>
            <a:chExt cx="12790794" cy="1371971"/>
          </a:xfrm>
        </p:grpSpPr>
        <p:sp>
          <p:nvSpPr>
            <p:cNvPr id="1030" name="流程图: 过程 30">
              <a:extLst>
                <a:ext uri="{FF2B5EF4-FFF2-40B4-BE49-F238E27FC236}">
                  <a16:creationId xmlns:a16="http://schemas.microsoft.com/office/drawing/2014/main" id="{F52561F9-FF22-A8ED-7FBA-355ADF0ECEA4}"/>
                </a:ext>
              </a:extLst>
            </p:cNvPr>
            <p:cNvSpPr/>
            <p:nvPr/>
          </p:nvSpPr>
          <p:spPr>
            <a:xfrm>
              <a:off x="-5595419" y="8496418"/>
              <a:ext cx="12790794" cy="1353788"/>
            </a:xfrm>
            <a:prstGeom prst="flowChartProcess">
              <a:avLst/>
            </a:prstGeom>
            <a:solidFill>
              <a:srgbClr val="000000"/>
            </a:solidFill>
            <a:ln>
              <a:noFill/>
            </a:ln>
            <a:effectLst>
              <a:outerShdw blurRad="63500" dist="50800" dir="5400000" sx="101000" sy="10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031" name="流程图: 过程 31">
              <a:extLst>
                <a:ext uri="{FF2B5EF4-FFF2-40B4-BE49-F238E27FC236}">
                  <a16:creationId xmlns:a16="http://schemas.microsoft.com/office/drawing/2014/main" id="{EB7841A9-016C-EEF6-28B3-E87FE7E38F61}"/>
                </a:ext>
              </a:extLst>
            </p:cNvPr>
            <p:cNvSpPr/>
            <p:nvPr/>
          </p:nvSpPr>
          <p:spPr>
            <a:xfrm>
              <a:off x="-5288442" y="8496419"/>
              <a:ext cx="60416" cy="1353788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2" name="流程图: 过程 32">
              <a:extLst>
                <a:ext uri="{FF2B5EF4-FFF2-40B4-BE49-F238E27FC236}">
                  <a16:creationId xmlns:a16="http://schemas.microsoft.com/office/drawing/2014/main" id="{E9FE8C51-7018-248B-6ACC-F3E3EED029FA}"/>
                </a:ext>
              </a:extLst>
            </p:cNvPr>
            <p:cNvSpPr/>
            <p:nvPr/>
          </p:nvSpPr>
          <p:spPr>
            <a:xfrm>
              <a:off x="6835896" y="8514601"/>
              <a:ext cx="60416" cy="1353788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4" name="文本框 94">
            <a:extLst>
              <a:ext uri="{FF2B5EF4-FFF2-40B4-BE49-F238E27FC236}">
                <a16:creationId xmlns:a16="http://schemas.microsoft.com/office/drawing/2014/main" id="{82C9B946-42B3-4B2B-8909-32C79DE81A66}"/>
              </a:ext>
            </a:extLst>
          </p:cNvPr>
          <p:cNvSpPr txBox="1"/>
          <p:nvPr/>
        </p:nvSpPr>
        <p:spPr>
          <a:xfrm>
            <a:off x="1942221" y="6068577"/>
            <a:ext cx="10635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>
                <a:solidFill>
                  <a:srgbClr val="B8001F"/>
                </a:solidFill>
                <a:latin typeface="Comic Sans MS" panose="030F0902030302020204" pitchFamily="66" charset="0"/>
                <a:ea typeface="Microsoft YaHei" panose="020B0503020204020204" pitchFamily="34" charset="-122"/>
              </a:rPr>
              <a:t>Background</a:t>
            </a:r>
            <a:endParaRPr kumimoji="1" lang="zh-CN" altLang="en-US" sz="5400" b="1" dirty="0">
              <a:solidFill>
                <a:srgbClr val="B8001F"/>
              </a:solidFill>
              <a:latin typeface="Comic Sans MS" panose="030F0902030302020204" pitchFamily="66" charset="0"/>
              <a:ea typeface="Microsoft YaHei" panose="020B0503020204020204" pitchFamily="34" charset="-122"/>
            </a:endParaRPr>
          </a:p>
        </p:txBody>
      </p:sp>
      <p:sp>
        <p:nvSpPr>
          <p:cNvPr id="1034" name="文本框 94">
            <a:extLst>
              <a:ext uri="{FF2B5EF4-FFF2-40B4-BE49-F238E27FC236}">
                <a16:creationId xmlns:a16="http://schemas.microsoft.com/office/drawing/2014/main" id="{02DB87D4-B406-C32D-CDF4-BF878CFDD831}"/>
              </a:ext>
            </a:extLst>
          </p:cNvPr>
          <p:cNvSpPr txBox="1"/>
          <p:nvPr/>
        </p:nvSpPr>
        <p:spPr>
          <a:xfrm>
            <a:off x="-16291483" y="11467234"/>
            <a:ext cx="5448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 err="1">
                <a:solidFill>
                  <a:srgbClr val="B8001F"/>
                </a:solidFill>
                <a:latin typeface="Comic Sans MS" panose="030F0902030302020204" pitchFamily="66" charset="0"/>
                <a:ea typeface="Microsoft YaHei" panose="020B0503020204020204" pitchFamily="34" charset="-122"/>
              </a:rPr>
              <a:t>TorchSpatial</a:t>
            </a:r>
            <a:endParaRPr kumimoji="1" lang="en-US" altLang="zh-CN" sz="5400" b="1" dirty="0">
              <a:solidFill>
                <a:srgbClr val="B8001F"/>
              </a:solidFill>
              <a:latin typeface="Comic Sans MS" panose="030F0902030302020204" pitchFamily="66" charset="0"/>
              <a:ea typeface="Microsoft YaHei" panose="020B0503020204020204" pitchFamily="34" charset="-122"/>
            </a:endParaRPr>
          </a:p>
        </p:txBody>
      </p:sp>
      <p:pic>
        <p:nvPicPr>
          <p:cNvPr id="1037" name="Picture 4" descr="SEAI">
            <a:extLst>
              <a:ext uri="{FF2B5EF4-FFF2-40B4-BE49-F238E27FC236}">
                <a16:creationId xmlns:a16="http://schemas.microsoft.com/office/drawing/2014/main" id="{295371A2-0473-BBF1-5628-C5D781F5A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5829" y="1371717"/>
            <a:ext cx="7451752" cy="269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TextBox 1041">
            <a:extLst>
              <a:ext uri="{FF2B5EF4-FFF2-40B4-BE49-F238E27FC236}">
                <a16:creationId xmlns:a16="http://schemas.microsoft.com/office/drawing/2014/main" id="{37C28C8E-EB74-1DA1-BB99-04AD0BC3386E}"/>
              </a:ext>
            </a:extLst>
          </p:cNvPr>
          <p:cNvSpPr txBox="1"/>
          <p:nvPr/>
        </p:nvSpPr>
        <p:spPr>
          <a:xfrm>
            <a:off x="30643613" y="28704756"/>
            <a:ext cx="862478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Mai,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Gengchen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 et al. (2022). "A review of location encoding for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GeoAI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 methods and applications." International Journal of Geographical Information Science 36.4 (2022)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Wang,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Zhangyu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et al. (2024). “Probing the Information Theoretical Roots of Spatial Dependence Measures.” Proceedings of the 16th Conference on Spatial Information Theory (COSIT)</a:t>
            </a:r>
          </a:p>
        </p:txBody>
      </p:sp>
      <p:sp>
        <p:nvSpPr>
          <p:cNvPr id="1043" name="文本框 94">
            <a:extLst>
              <a:ext uri="{FF2B5EF4-FFF2-40B4-BE49-F238E27FC236}">
                <a16:creationId xmlns:a16="http://schemas.microsoft.com/office/drawing/2014/main" id="{F583CB92-80E7-2A2C-D268-8A5290E08A2C}"/>
              </a:ext>
            </a:extLst>
          </p:cNvPr>
          <p:cNvSpPr txBox="1"/>
          <p:nvPr/>
        </p:nvSpPr>
        <p:spPr>
          <a:xfrm>
            <a:off x="31342513" y="6068577"/>
            <a:ext cx="10544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>
                <a:solidFill>
                  <a:srgbClr val="B8001F"/>
                </a:solidFill>
                <a:latin typeface="Comic Sans MS" panose="030F0902030302020204" pitchFamily="66" charset="0"/>
                <a:ea typeface="Microsoft YaHei" panose="020B0503020204020204" pitchFamily="34" charset="-122"/>
              </a:rPr>
              <a:t>Geo-Bias Score</a:t>
            </a:r>
          </a:p>
        </p:txBody>
      </p:sp>
      <p:grpSp>
        <p:nvGrpSpPr>
          <p:cNvPr id="1054" name="组合 33">
            <a:extLst>
              <a:ext uri="{FF2B5EF4-FFF2-40B4-BE49-F238E27FC236}">
                <a16:creationId xmlns:a16="http://schemas.microsoft.com/office/drawing/2014/main" id="{600D90F9-6EAD-B14F-05DA-0E3C7606F982}"/>
              </a:ext>
            </a:extLst>
          </p:cNvPr>
          <p:cNvGrpSpPr/>
          <p:nvPr/>
        </p:nvGrpSpPr>
        <p:grpSpPr>
          <a:xfrm>
            <a:off x="17457855" y="5017253"/>
            <a:ext cx="8975489" cy="1204687"/>
            <a:chOff x="-5595419" y="8478235"/>
            <a:chExt cx="6451423" cy="1371972"/>
          </a:xfrm>
        </p:grpSpPr>
        <p:sp>
          <p:nvSpPr>
            <p:cNvPr id="1055" name="流程图: 过程 30">
              <a:extLst>
                <a:ext uri="{FF2B5EF4-FFF2-40B4-BE49-F238E27FC236}">
                  <a16:creationId xmlns:a16="http://schemas.microsoft.com/office/drawing/2014/main" id="{EE166599-02A9-A9D3-F12F-A971177F50C2}"/>
                </a:ext>
              </a:extLst>
            </p:cNvPr>
            <p:cNvSpPr/>
            <p:nvPr/>
          </p:nvSpPr>
          <p:spPr>
            <a:xfrm>
              <a:off x="-5595419" y="8496418"/>
              <a:ext cx="6451423" cy="1353788"/>
            </a:xfrm>
            <a:prstGeom prst="flowChartProcess">
              <a:avLst/>
            </a:prstGeom>
            <a:solidFill>
              <a:srgbClr val="B8001F"/>
            </a:solidFill>
            <a:ln>
              <a:noFill/>
            </a:ln>
            <a:effectLst>
              <a:outerShdw blurRad="63500" dist="50800" dir="5400000" sx="101000" sy="10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056" name="流程图: 过程 31">
              <a:extLst>
                <a:ext uri="{FF2B5EF4-FFF2-40B4-BE49-F238E27FC236}">
                  <a16:creationId xmlns:a16="http://schemas.microsoft.com/office/drawing/2014/main" id="{4C49F3CE-9102-F666-FDE3-2468495FDAD4}"/>
                </a:ext>
              </a:extLst>
            </p:cNvPr>
            <p:cNvSpPr/>
            <p:nvPr/>
          </p:nvSpPr>
          <p:spPr>
            <a:xfrm>
              <a:off x="-5288442" y="8496419"/>
              <a:ext cx="60416" cy="1353788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7" name="流程图: 过程 32">
              <a:extLst>
                <a:ext uri="{FF2B5EF4-FFF2-40B4-BE49-F238E27FC236}">
                  <a16:creationId xmlns:a16="http://schemas.microsoft.com/office/drawing/2014/main" id="{0BE7D8A9-3CBD-C2B5-9537-306C49B817FC}"/>
                </a:ext>
              </a:extLst>
            </p:cNvPr>
            <p:cNvSpPr/>
            <p:nvPr/>
          </p:nvSpPr>
          <p:spPr>
            <a:xfrm>
              <a:off x="471703" y="8478235"/>
              <a:ext cx="60416" cy="1353788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58" name="TextBox 1057">
            <a:extLst>
              <a:ext uri="{FF2B5EF4-FFF2-40B4-BE49-F238E27FC236}">
                <a16:creationId xmlns:a16="http://schemas.microsoft.com/office/drawing/2014/main" id="{5B075F74-6C50-1297-6844-3322EA5B8975}"/>
              </a:ext>
            </a:extLst>
          </p:cNvPr>
          <p:cNvSpPr txBox="1"/>
          <p:nvPr/>
        </p:nvSpPr>
        <p:spPr>
          <a:xfrm>
            <a:off x="19695118" y="5155363"/>
            <a:ext cx="46383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 err="1">
                <a:solidFill>
                  <a:prstClr val="white"/>
                </a:solidFill>
                <a:latin typeface="Comic Sans MS" panose="030F0902030302020204" pitchFamily="66" charset="0"/>
                <a:ea typeface="等线" panose="02010600030101010101" pitchFamily="2" charset="-122"/>
                <a:cs typeface="Arial" panose="020B0604020202020204" pitchFamily="34" charset="0"/>
              </a:rPr>
              <a:t>TorchSpatial</a:t>
            </a:r>
            <a:endParaRPr lang="zh-CN" altLang="en-US" sz="5400" dirty="0">
              <a:latin typeface="Comic Sans MS" panose="030F0902030302020204" pitchFamily="66" charset="0"/>
            </a:endParaRP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2C1EDEFB-13A0-1A30-7769-230ED7DD445A}"/>
              </a:ext>
            </a:extLst>
          </p:cNvPr>
          <p:cNvSpPr txBox="1"/>
          <p:nvPr/>
        </p:nvSpPr>
        <p:spPr>
          <a:xfrm>
            <a:off x="1590763" y="30255992"/>
            <a:ext cx="11660642" cy="1169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500" dirty="0">
                <a:solidFill>
                  <a:srgbClr val="404040"/>
                </a:solidFill>
              </a:rPr>
              <a:t>A unified, flexible framework that supports the development of location encoders, ensuring scalability and reproducibility.</a:t>
            </a:r>
          </a:p>
        </p:txBody>
      </p:sp>
      <p:pic>
        <p:nvPicPr>
          <p:cNvPr id="1061" name="Google Shape;957;p49">
            <a:extLst>
              <a:ext uri="{FF2B5EF4-FFF2-40B4-BE49-F238E27FC236}">
                <a16:creationId xmlns:a16="http://schemas.microsoft.com/office/drawing/2014/main" id="{7CE42CD1-230C-EFB2-88AB-058A86DFBF6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36713" t="20949" r="39768" b="68050"/>
          <a:stretch/>
        </p:blipFill>
        <p:spPr>
          <a:xfrm>
            <a:off x="8986812" y="28437812"/>
            <a:ext cx="3932038" cy="869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62" name="Google Shape;958;p49">
            <a:extLst>
              <a:ext uri="{FF2B5EF4-FFF2-40B4-BE49-F238E27FC236}">
                <a16:creationId xmlns:a16="http://schemas.microsoft.com/office/drawing/2014/main" id="{5533650F-0251-3058-69C8-08417EC9C2B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7638"/>
          <a:stretch/>
        </p:blipFill>
        <p:spPr>
          <a:xfrm>
            <a:off x="5850341" y="29298412"/>
            <a:ext cx="2946279" cy="47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959;p49">
            <a:extLst>
              <a:ext uri="{FF2B5EF4-FFF2-40B4-BE49-F238E27FC236}">
                <a16:creationId xmlns:a16="http://schemas.microsoft.com/office/drawing/2014/main" id="{0107C9E4-CFC4-0841-D786-ADAABCBF1E6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t="7638"/>
          <a:stretch/>
        </p:blipFill>
        <p:spPr>
          <a:xfrm>
            <a:off x="5824941" y="28711839"/>
            <a:ext cx="2216792" cy="47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962;p49">
            <a:extLst>
              <a:ext uri="{FF2B5EF4-FFF2-40B4-BE49-F238E27FC236}">
                <a16:creationId xmlns:a16="http://schemas.microsoft.com/office/drawing/2014/main" id="{E610D1E7-37F8-343D-8CE3-67200F8942CB}"/>
              </a:ext>
            </a:extLst>
          </p:cNvPr>
          <p:cNvSpPr txBox="1"/>
          <p:nvPr/>
        </p:nvSpPr>
        <p:spPr>
          <a:xfrm>
            <a:off x="1866894" y="28552635"/>
            <a:ext cx="387145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i="1" dirty="0">
                <a:solidFill>
                  <a:srgbClr val="C00000"/>
                </a:solidFill>
              </a:rPr>
              <a:t>Position Encoder:</a:t>
            </a:r>
            <a:endParaRPr sz="3500" i="1" dirty="0">
              <a:solidFill>
                <a:srgbClr val="C00000"/>
              </a:solidFill>
            </a:endParaRPr>
          </a:p>
        </p:txBody>
      </p:sp>
      <p:pic>
        <p:nvPicPr>
          <p:cNvPr id="1065" name="Google Shape;963;p49">
            <a:extLst>
              <a:ext uri="{FF2B5EF4-FFF2-40B4-BE49-F238E27FC236}">
                <a16:creationId xmlns:a16="http://schemas.microsoft.com/office/drawing/2014/main" id="{C1783BC3-C5F8-9E7C-A605-F193CD9453DA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rcRect b="7730"/>
          <a:stretch/>
        </p:blipFill>
        <p:spPr>
          <a:xfrm>
            <a:off x="5846996" y="27970609"/>
            <a:ext cx="2752823" cy="5994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964;p49">
            <a:extLst>
              <a:ext uri="{FF2B5EF4-FFF2-40B4-BE49-F238E27FC236}">
                <a16:creationId xmlns:a16="http://schemas.microsoft.com/office/drawing/2014/main" id="{09B5D93A-5DE2-8901-3A61-8D202DEC4DF0}"/>
              </a:ext>
            </a:extLst>
          </p:cNvPr>
          <p:cNvSpPr txBox="1"/>
          <p:nvPr/>
        </p:nvSpPr>
        <p:spPr>
          <a:xfrm>
            <a:off x="1866894" y="27960024"/>
            <a:ext cx="3932038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i="1" dirty="0">
                <a:solidFill>
                  <a:srgbClr val="C00000"/>
                </a:solidFill>
              </a:rPr>
              <a:t>Input Location:</a:t>
            </a:r>
            <a:endParaRPr sz="3500" i="1" dirty="0">
              <a:solidFill>
                <a:srgbClr val="C00000"/>
              </a:solidFill>
            </a:endParaRPr>
          </a:p>
        </p:txBody>
      </p:sp>
      <p:sp>
        <p:nvSpPr>
          <p:cNvPr id="1067" name="Google Shape;965;p49">
            <a:extLst>
              <a:ext uri="{FF2B5EF4-FFF2-40B4-BE49-F238E27FC236}">
                <a16:creationId xmlns:a16="http://schemas.microsoft.com/office/drawing/2014/main" id="{B35E673A-22C2-F447-C1DB-60D3F9055753}"/>
              </a:ext>
            </a:extLst>
          </p:cNvPr>
          <p:cNvSpPr txBox="1"/>
          <p:nvPr/>
        </p:nvSpPr>
        <p:spPr>
          <a:xfrm>
            <a:off x="995514" y="29133198"/>
            <a:ext cx="4741750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i="1" dirty="0">
                <a:solidFill>
                  <a:srgbClr val="C00000"/>
                </a:solidFill>
              </a:rPr>
              <a:t>Learnable Neural Nets:</a:t>
            </a:r>
            <a:endParaRPr sz="3500" i="1" dirty="0">
              <a:solidFill>
                <a:srgbClr val="C00000"/>
              </a:solidFill>
            </a:endParaRPr>
          </a:p>
        </p:txBody>
      </p:sp>
      <p:pic>
        <p:nvPicPr>
          <p:cNvPr id="1068" name="图片 2">
            <a:extLst>
              <a:ext uri="{FF2B5EF4-FFF2-40B4-BE49-F238E27FC236}">
                <a16:creationId xmlns:a16="http://schemas.microsoft.com/office/drawing/2014/main" id="{AD4BD925-D080-8416-F736-ED6AC85760F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22" r="2097"/>
          <a:stretch/>
        </p:blipFill>
        <p:spPr>
          <a:xfrm>
            <a:off x="1376562" y="23728052"/>
            <a:ext cx="11988928" cy="3746960"/>
          </a:xfrm>
          <a:prstGeom prst="rect">
            <a:avLst/>
          </a:prstGeom>
        </p:spPr>
      </p:pic>
      <p:pic>
        <p:nvPicPr>
          <p:cNvPr id="1070" name="Picture 1069">
            <a:extLst>
              <a:ext uri="{FF2B5EF4-FFF2-40B4-BE49-F238E27FC236}">
                <a16:creationId xmlns:a16="http://schemas.microsoft.com/office/drawing/2014/main" id="{A1AB5573-C458-D0C4-69D6-9B92DBFEF1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6198" y="29081372"/>
            <a:ext cx="1181100" cy="72468"/>
          </a:xfrm>
          <a:prstGeom prst="rect">
            <a:avLst/>
          </a:prstGeom>
        </p:spPr>
      </p:pic>
      <p:sp>
        <p:nvSpPr>
          <p:cNvPr id="1071" name="文本框 94">
            <a:extLst>
              <a:ext uri="{FF2B5EF4-FFF2-40B4-BE49-F238E27FC236}">
                <a16:creationId xmlns:a16="http://schemas.microsoft.com/office/drawing/2014/main" id="{E6D2E29E-F2AC-CAA2-3B54-62B3CC85D7D4}"/>
              </a:ext>
            </a:extLst>
          </p:cNvPr>
          <p:cNvSpPr txBox="1"/>
          <p:nvPr/>
        </p:nvSpPr>
        <p:spPr>
          <a:xfrm>
            <a:off x="16673120" y="21684544"/>
            <a:ext cx="10544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>
                <a:solidFill>
                  <a:srgbClr val="B8001F"/>
                </a:solidFill>
                <a:latin typeface="Comic Sans MS" panose="030F0902030302020204" pitchFamily="66" charset="0"/>
                <a:ea typeface="Microsoft YaHei" panose="020B0503020204020204" pitchFamily="34" charset="-122"/>
              </a:rPr>
              <a:t>Model Inference Architecture</a:t>
            </a:r>
          </a:p>
        </p:txBody>
      </p:sp>
      <p:pic>
        <p:nvPicPr>
          <p:cNvPr id="1074" name="Picture 6">
            <a:extLst>
              <a:ext uri="{FF2B5EF4-FFF2-40B4-BE49-F238E27FC236}">
                <a16:creationId xmlns:a16="http://schemas.microsoft.com/office/drawing/2014/main" id="{97BACCDF-8774-6AFF-95F4-D768A2B86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4992" y="22502621"/>
            <a:ext cx="2743199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5" name="Picture 7">
            <a:extLst>
              <a:ext uri="{FF2B5EF4-FFF2-40B4-BE49-F238E27FC236}">
                <a16:creationId xmlns:a16="http://schemas.microsoft.com/office/drawing/2014/main" id="{3306147F-066F-7303-FA9A-0B0B231B8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7860" y="22502621"/>
            <a:ext cx="2743199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DA2B5355-1CBC-FF6A-3EEE-4F22B2AD66C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052787" y="22502621"/>
            <a:ext cx="27432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78" name="Picture 1077">
            <a:extLst>
              <a:ext uri="{FF2B5EF4-FFF2-40B4-BE49-F238E27FC236}">
                <a16:creationId xmlns:a16="http://schemas.microsoft.com/office/drawing/2014/main" id="{69273098-6899-A292-2A55-3EC8A96C3EE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807037" y="22502621"/>
            <a:ext cx="2743200" cy="2743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79" name="TextBox 1078">
            <a:extLst>
              <a:ext uri="{FF2B5EF4-FFF2-40B4-BE49-F238E27FC236}">
                <a16:creationId xmlns:a16="http://schemas.microsoft.com/office/drawing/2014/main" id="{88FDD610-D766-14DF-393D-C11540FC1670}"/>
              </a:ext>
            </a:extLst>
          </p:cNvPr>
          <p:cNvSpPr txBox="1"/>
          <p:nvPr/>
        </p:nvSpPr>
        <p:spPr>
          <a:xfrm>
            <a:off x="31794395" y="25275505"/>
            <a:ext cx="1972669" cy="6309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altLang="zh-CN" sz="3500" b="1" dirty="0">
                <a:solidFill>
                  <a:srgbClr val="B8001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Paper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23DD524E-F4FC-C8AE-F6B2-679476FCACF4}"/>
              </a:ext>
            </a:extLst>
          </p:cNvPr>
          <p:cNvSpPr txBox="1"/>
          <p:nvPr/>
        </p:nvSpPr>
        <p:spPr>
          <a:xfrm>
            <a:off x="34133274" y="25259819"/>
            <a:ext cx="2144548" cy="6309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altLang="zh-CN" sz="3500" b="1" dirty="0">
                <a:solidFill>
                  <a:srgbClr val="B8001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zh-CN" altLang="en-US" sz="3500" b="1" dirty="0">
                <a:solidFill>
                  <a:srgbClr val="B8001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3500" b="1" dirty="0">
                <a:solidFill>
                  <a:srgbClr val="B8001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Lib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E108536C-FDE3-32B9-FD88-67216E159D0D}"/>
              </a:ext>
            </a:extLst>
          </p:cNvPr>
          <p:cNvSpPr txBox="1"/>
          <p:nvPr/>
        </p:nvSpPr>
        <p:spPr>
          <a:xfrm>
            <a:off x="37243312" y="25275505"/>
            <a:ext cx="2144548" cy="6309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altLang="zh-CN" sz="3500" b="1" dirty="0">
                <a:solidFill>
                  <a:srgbClr val="B8001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B4ED6F4-8EE1-493A-316C-91A9369DEC12}"/>
              </a:ext>
            </a:extLst>
          </p:cNvPr>
          <p:cNvSpPr txBox="1"/>
          <p:nvPr/>
        </p:nvSpPr>
        <p:spPr>
          <a:xfrm>
            <a:off x="39878340" y="25259819"/>
            <a:ext cx="2144548" cy="6309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altLang="zh-CN" sz="3500" b="1" dirty="0">
                <a:solidFill>
                  <a:srgbClr val="B8001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Website</a:t>
            </a:r>
          </a:p>
        </p:txBody>
      </p:sp>
      <p:pic>
        <p:nvPicPr>
          <p:cNvPr id="1089" name="Picture 16">
            <a:extLst>
              <a:ext uri="{FF2B5EF4-FFF2-40B4-BE49-F238E27FC236}">
                <a16:creationId xmlns:a16="http://schemas.microsoft.com/office/drawing/2014/main" id="{76E11DC5-1767-9FFE-30C5-F74D8D5B1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110" y="12114103"/>
            <a:ext cx="3203923" cy="303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7" name="TextBox 1096">
            <a:extLst>
              <a:ext uri="{FF2B5EF4-FFF2-40B4-BE49-F238E27FC236}">
                <a16:creationId xmlns:a16="http://schemas.microsoft.com/office/drawing/2014/main" id="{3A4683E2-2C60-0171-B5DA-ACE6E305916A}"/>
              </a:ext>
            </a:extLst>
          </p:cNvPr>
          <p:cNvSpPr txBox="1"/>
          <p:nvPr/>
        </p:nvSpPr>
        <p:spPr>
          <a:xfrm>
            <a:off x="31052788" y="7034827"/>
            <a:ext cx="10919178" cy="81714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3500" dirty="0">
                <a:solidFill>
                  <a:srgbClr val="404040"/>
                </a:solidFill>
                <a:ea typeface="Arial"/>
                <a:cs typeface="Arial" panose="020B0604020202020204" pitchFamily="34" charset="0"/>
                <a:sym typeface="Arial"/>
              </a:rPr>
              <a:t>We employ the </a:t>
            </a:r>
            <a:r>
              <a:rPr lang="en-US" sz="3500" b="1" dirty="0">
                <a:solidFill>
                  <a:srgbClr val="404040"/>
                </a:solidFill>
                <a:ea typeface="Arial"/>
                <a:cs typeface="Arial" panose="020B0604020202020204" pitchFamily="34" charset="0"/>
                <a:sym typeface="Arial"/>
              </a:rPr>
              <a:t>spatial self-information (SSI),</a:t>
            </a:r>
            <a:r>
              <a:rPr lang="en-US" sz="3500" dirty="0">
                <a:solidFill>
                  <a:srgbClr val="404040"/>
                </a:solidFill>
                <a:ea typeface="Arial"/>
                <a:cs typeface="Arial" panose="020B0604020202020204" pitchFamily="34" charset="0"/>
                <a:sym typeface="Arial"/>
              </a:rPr>
              <a:t> using a Gaussian distribution to approximate the probability of observing certain types of spatial patterns. </a:t>
            </a: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35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endParaRPr lang="en-US" sz="2800" dirty="0">
              <a:solidFill>
                <a:srgbClr val="404040"/>
              </a:solidFill>
              <a:ea typeface="Arial"/>
              <a:cs typeface="Arial" panose="020B0604020202020204" pitchFamily="34" charset="0"/>
              <a:sym typeface="Arial"/>
            </a:endParaRPr>
          </a:p>
          <a:p>
            <a:pPr algn="just"/>
            <a:r>
              <a:rPr lang="en-US" sz="3500" dirty="0">
                <a:solidFill>
                  <a:srgbClr val="404040"/>
                </a:solidFill>
                <a:ea typeface="Arial"/>
                <a:cs typeface="Arial" panose="020B0604020202020204" pitchFamily="34" charset="0"/>
                <a:sym typeface="Arial"/>
              </a:rPr>
              <a:t>The lower the SSI, the more likely the current spatial patterns arise randomly, namely less geo-</a:t>
            </a:r>
            <a:r>
              <a:rPr lang="en-US" sz="3500" dirty="0" err="1">
                <a:solidFill>
                  <a:srgbClr val="404040"/>
                </a:solidFill>
                <a:ea typeface="Arial"/>
                <a:cs typeface="Arial" panose="020B0604020202020204" pitchFamily="34" charset="0"/>
                <a:sym typeface="Arial"/>
              </a:rPr>
              <a:t>baised</a:t>
            </a:r>
            <a:r>
              <a:rPr lang="en-US" sz="3500" dirty="0">
                <a:solidFill>
                  <a:srgbClr val="404040"/>
                </a:solidFill>
                <a:ea typeface="Arial"/>
                <a:cs typeface="Arial" panose="020B0604020202020204" pitchFamily="34" charset="0"/>
                <a:sym typeface="Arial"/>
              </a:rPr>
              <a:t>.</a:t>
            </a:r>
          </a:p>
        </p:txBody>
      </p:sp>
      <p:sp>
        <p:nvSpPr>
          <p:cNvPr id="1098" name="文本框 94">
            <a:extLst>
              <a:ext uri="{FF2B5EF4-FFF2-40B4-BE49-F238E27FC236}">
                <a16:creationId xmlns:a16="http://schemas.microsoft.com/office/drawing/2014/main" id="{710CC58C-757B-89EF-F799-8EE0347FCCDC}"/>
              </a:ext>
            </a:extLst>
          </p:cNvPr>
          <p:cNvSpPr txBox="1"/>
          <p:nvPr/>
        </p:nvSpPr>
        <p:spPr>
          <a:xfrm>
            <a:off x="30816219" y="15306457"/>
            <a:ext cx="11067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b="1" dirty="0">
                <a:solidFill>
                  <a:srgbClr val="B8001F"/>
                </a:solidFill>
                <a:latin typeface="Comic Sans MS" panose="030F0902030302020204" pitchFamily="66" charset="0"/>
                <a:ea typeface="Microsoft YaHei" panose="020B0503020204020204" pitchFamily="34" charset="-122"/>
              </a:rPr>
              <a:t>Contribution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A683BE67-6472-4B88-E416-712943868E74}"/>
              </a:ext>
            </a:extLst>
          </p:cNvPr>
          <p:cNvSpPr txBox="1"/>
          <p:nvPr/>
        </p:nvSpPr>
        <p:spPr>
          <a:xfrm>
            <a:off x="30977605" y="16274999"/>
            <a:ext cx="11231449" cy="76328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B8001E"/>
                </a:solidFill>
                <a:sym typeface="Calibri"/>
              </a:rPr>
              <a:t>A location encoder framework </a:t>
            </a:r>
            <a:r>
              <a:rPr lang="en-US" sz="3500" dirty="0">
                <a:solidFill>
                  <a:srgbClr val="404040"/>
                </a:solidFill>
                <a:sym typeface="Calibri"/>
              </a:rPr>
              <a:t>that consolidates 15 </a:t>
            </a:r>
            <a:r>
              <a:rPr lang="en-US" sz="35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location encoders and necessary model building blocks for future location encoders.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B8001E"/>
                </a:solidFill>
                <a:sym typeface="Calibri"/>
              </a:rPr>
              <a:t>A benchmark </a:t>
            </a:r>
            <a:r>
              <a:rPr lang="en-US" sz="3500" dirty="0">
                <a:solidFill>
                  <a:srgbClr val="404040"/>
                </a:solidFill>
                <a:sym typeface="Calibri"/>
              </a:rPr>
              <a:t>which contains 7 geo-aware image classification and 10 image regression datasets.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B8001E"/>
                </a:solidFill>
                <a:sym typeface="Calibri"/>
              </a:rPr>
              <a:t>A set of evaluation metrics </a:t>
            </a:r>
            <a:r>
              <a:rPr lang="en-US" sz="3500" dirty="0">
                <a:solidFill>
                  <a:srgbClr val="404040"/>
                </a:solidFill>
                <a:sym typeface="Calibri"/>
              </a:rPr>
              <a:t>to quantify location encoders’ overall model performance and their geographic bias.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B8001E"/>
                </a:solidFill>
                <a:sym typeface="Calibri"/>
              </a:rPr>
              <a:t>All evaluation result </a:t>
            </a:r>
            <a:r>
              <a:rPr lang="en-US" sz="3500" dirty="0">
                <a:solidFill>
                  <a:srgbClr val="404040"/>
                </a:solidFill>
                <a:sym typeface="Calibri"/>
              </a:rPr>
              <a:t>details please refer to the paper.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404040"/>
                </a:solidFill>
                <a:sym typeface="Calibri"/>
              </a:rPr>
              <a:t>The dataset and code are available on our GitHub and website.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B8001E"/>
                </a:solidFill>
                <a:sym typeface="Calibri"/>
              </a:rPr>
              <a:t>A Python package </a:t>
            </a:r>
            <a:r>
              <a:rPr lang="en-US" sz="3500" dirty="0">
                <a:solidFill>
                  <a:srgbClr val="404040"/>
                </a:solidFill>
                <a:sym typeface="Calibri"/>
              </a:rPr>
              <a:t>with the same name has been released.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500" dirty="0">
              <a:solidFill>
                <a:srgbClr val="404040"/>
              </a:solidFill>
              <a:sym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" sz="3500" b="1" dirty="0">
              <a:solidFill>
                <a:srgbClr val="404040"/>
              </a:solidFill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" sz="3500" dirty="0">
              <a:solidFill>
                <a:srgbClr val="404040"/>
              </a:solidFill>
              <a:cs typeface="Arial" panose="020B0604020202020204" pitchFamily="34" charset="0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D26771B5-4B80-9D21-6113-5D211F104F54}"/>
              </a:ext>
            </a:extLst>
          </p:cNvPr>
          <p:cNvSpPr txBox="1"/>
          <p:nvPr/>
        </p:nvSpPr>
        <p:spPr>
          <a:xfrm>
            <a:off x="6467434" y="15329673"/>
            <a:ext cx="6485801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3500" b="1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Species Distribution Modeling</a:t>
            </a:r>
          </a:p>
          <a:p>
            <a:pPr algn="ctr" rtl="0"/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iNat2017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sz="2400" dirty="0">
                <a:solidFill>
                  <a:srgbClr val="000000"/>
                </a:solidFill>
              </a:rPr>
              <a:t>Mac </a:t>
            </a:r>
            <a:r>
              <a:rPr lang="en-US" sz="2400" dirty="0" err="1">
                <a:solidFill>
                  <a:srgbClr val="000000"/>
                </a:solidFill>
              </a:rPr>
              <a:t>Aoda</a:t>
            </a:r>
            <a:r>
              <a:rPr lang="en-US" sz="2400" dirty="0">
                <a:solidFill>
                  <a:srgbClr val="000000"/>
                </a:solidFill>
              </a:rPr>
              <a:t> et al, ICCV 2019; Mai et al., ICLR 2020; Mai et al.,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olidFill>
                  <a:srgbClr val="000000"/>
                </a:solidFill>
              </a:rPr>
              <a:t>Wu</a:t>
            </a:r>
            <a:r>
              <a:rPr lang="en-US" sz="2400" dirty="0">
                <a:solidFill>
                  <a:srgbClr val="000000"/>
                </a:solidFill>
              </a:rPr>
              <a:t> et al.</a:t>
            </a: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</a:rPr>
              <a:t>NeurIPS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202</a:t>
            </a:r>
            <a:r>
              <a:rPr lang="en-US" altLang="zh-CN" sz="2400" dirty="0">
                <a:solidFill>
                  <a:srgbClr val="000000"/>
                </a:solidFill>
              </a:rPr>
              <a:t>4</a:t>
            </a:r>
            <a:r>
              <a:rPr lang="en-US" sz="2400" dirty="0">
                <a:solidFill>
                  <a:srgbClr val="000000"/>
                </a:solidFill>
              </a:rPr>
              <a:t>)</a:t>
            </a:r>
          </a:p>
          <a:p>
            <a:pPr algn="ctr"/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6B5949A4-9DFF-DC20-6923-E414CDF3F515}"/>
              </a:ext>
            </a:extLst>
          </p:cNvPr>
          <p:cNvSpPr txBox="1"/>
          <p:nvPr/>
        </p:nvSpPr>
        <p:spPr>
          <a:xfrm>
            <a:off x="1682145" y="15341897"/>
            <a:ext cx="5738939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3500" b="1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Sustainability</a:t>
            </a:r>
          </a:p>
          <a:p>
            <a:pPr algn="ctr" rtl="0"/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Wealth Index Prediction </a:t>
            </a:r>
            <a:endParaRPr lang="en-US" sz="2800" b="0" dirty="0">
              <a:effectLst/>
            </a:endParaRPr>
          </a:p>
          <a:p>
            <a:pPr algn="ctr" rtl="0"/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(Sheehan et al., KDD 2019; </a:t>
            </a:r>
            <a:endParaRPr lang="en-US" sz="2400" b="0" dirty="0">
              <a:effectLst/>
            </a:endParaRPr>
          </a:p>
          <a:p>
            <a:pPr algn="ctr" rtl="0"/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Manvi et al., ICLR 2024)</a:t>
            </a:r>
            <a:endParaRPr lang="en-US" sz="2400" b="0" dirty="0">
              <a:effectLst/>
            </a:endParaRPr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93749BC5-B567-52B6-8260-27B25AC37DBB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r="31011"/>
          <a:stretch/>
        </p:blipFill>
        <p:spPr>
          <a:xfrm>
            <a:off x="15206505" y="22769178"/>
            <a:ext cx="8898136" cy="8746712"/>
          </a:xfrm>
          <a:prstGeom prst="rect">
            <a:avLst/>
          </a:prstGeom>
        </p:spPr>
      </p:pic>
      <p:sp>
        <p:nvSpPr>
          <p:cNvPr id="1107" name="TextBox 1106">
            <a:extLst>
              <a:ext uri="{FF2B5EF4-FFF2-40B4-BE49-F238E27FC236}">
                <a16:creationId xmlns:a16="http://schemas.microsoft.com/office/drawing/2014/main" id="{4DF613BC-157F-7A9F-BD88-0F2642DBDA98}"/>
              </a:ext>
            </a:extLst>
          </p:cNvPr>
          <p:cNvSpPr txBox="1"/>
          <p:nvPr/>
        </p:nvSpPr>
        <p:spPr>
          <a:xfrm rot="16200000">
            <a:off x="13910738" y="25207407"/>
            <a:ext cx="1841615" cy="4154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100" dirty="0">
                <a:solidFill>
                  <a:schemeClr val="dk1"/>
                </a:solidFill>
                <a:latin typeface="Arial"/>
                <a:cs typeface="Arial"/>
              </a:rPr>
              <a:t>Images</a:t>
            </a:r>
            <a:endParaRPr lang="zh-CN" altLang="en-US" sz="21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586E6C55-E5FC-1949-C34F-EE106BB77277}"/>
              </a:ext>
            </a:extLst>
          </p:cNvPr>
          <p:cNvSpPr txBox="1"/>
          <p:nvPr/>
        </p:nvSpPr>
        <p:spPr>
          <a:xfrm rot="16200000">
            <a:off x="13910739" y="29541187"/>
            <a:ext cx="1841615" cy="4154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100" dirty="0">
                <a:solidFill>
                  <a:schemeClr val="dk1"/>
                </a:solidFill>
                <a:latin typeface="Arial"/>
                <a:cs typeface="Arial"/>
              </a:rPr>
              <a:t>Geolocations</a:t>
            </a:r>
            <a:endParaRPr lang="zh-CN" altLang="en-US" sz="2100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grpSp>
        <p:nvGrpSpPr>
          <p:cNvPr id="1376" name="Group 1375">
            <a:extLst>
              <a:ext uri="{FF2B5EF4-FFF2-40B4-BE49-F238E27FC236}">
                <a16:creationId xmlns:a16="http://schemas.microsoft.com/office/drawing/2014/main" id="{B0B03C25-AF20-5094-47E1-FE0E220E45A4}"/>
              </a:ext>
            </a:extLst>
          </p:cNvPr>
          <p:cNvGrpSpPr/>
          <p:nvPr/>
        </p:nvGrpSpPr>
        <p:grpSpPr>
          <a:xfrm>
            <a:off x="30721563" y="9159984"/>
            <a:ext cx="11692213" cy="2584886"/>
            <a:chOff x="32356088" y="9361418"/>
            <a:chExt cx="8020755" cy="1773209"/>
          </a:xfrm>
        </p:grpSpPr>
        <p:pic>
          <p:nvPicPr>
            <p:cNvPr id="1243" name="Google Shape;1014;p54">
              <a:extLst>
                <a:ext uri="{FF2B5EF4-FFF2-40B4-BE49-F238E27FC236}">
                  <a16:creationId xmlns:a16="http://schemas.microsoft.com/office/drawing/2014/main" id="{61DE4A71-B2AF-82C7-4547-A295D67E03C1}"/>
                </a:ext>
              </a:extLst>
            </p:cNvPr>
            <p:cNvPicPr preferRelativeResize="0"/>
            <p:nvPr/>
          </p:nvPicPr>
          <p:blipFill rotWithShape="1">
            <a:blip r:embed="rId20">
              <a:alphaModFix/>
            </a:blip>
            <a:srcRect l="4268" r="6437"/>
            <a:stretch/>
          </p:blipFill>
          <p:spPr>
            <a:xfrm>
              <a:off x="32356088" y="9377657"/>
              <a:ext cx="2563760" cy="17569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015;p54">
              <a:extLst>
                <a:ext uri="{FF2B5EF4-FFF2-40B4-BE49-F238E27FC236}">
                  <a16:creationId xmlns:a16="http://schemas.microsoft.com/office/drawing/2014/main" id="{239A940C-9729-0B53-7B5E-C9A736DE832A}"/>
                </a:ext>
              </a:extLst>
            </p:cNvPr>
            <p:cNvSpPr/>
            <p:nvPr/>
          </p:nvSpPr>
          <p:spPr>
            <a:xfrm>
              <a:off x="37808843" y="9370322"/>
              <a:ext cx="2568000" cy="1755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5" name="Google Shape;1016;p54">
              <a:extLst>
                <a:ext uri="{FF2B5EF4-FFF2-40B4-BE49-F238E27FC236}">
                  <a16:creationId xmlns:a16="http://schemas.microsoft.com/office/drawing/2014/main" id="{B69D1643-9F37-0F4A-EBA5-2AD7B043762E}"/>
                </a:ext>
              </a:extLst>
            </p:cNvPr>
            <p:cNvGrpSpPr/>
            <p:nvPr/>
          </p:nvGrpSpPr>
          <p:grpSpPr>
            <a:xfrm>
              <a:off x="38025583" y="9361418"/>
              <a:ext cx="459594" cy="1579616"/>
              <a:chOff x="3313371" y="6408084"/>
              <a:chExt cx="254877" cy="876007"/>
            </a:xfrm>
          </p:grpSpPr>
          <p:sp>
            <p:nvSpPr>
              <p:cNvPr id="1246" name="Google Shape;1017;p54">
                <a:extLst>
                  <a:ext uri="{FF2B5EF4-FFF2-40B4-BE49-F238E27FC236}">
                    <a16:creationId xmlns:a16="http://schemas.microsoft.com/office/drawing/2014/main" id="{C17178FA-4D15-9BB6-229E-370F80046770}"/>
                  </a:ext>
                </a:extLst>
              </p:cNvPr>
              <p:cNvSpPr/>
              <p:nvPr/>
            </p:nvSpPr>
            <p:spPr>
              <a:xfrm>
                <a:off x="3488748" y="6408084"/>
                <a:ext cx="79500" cy="795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018;p54">
                <a:extLst>
                  <a:ext uri="{FF2B5EF4-FFF2-40B4-BE49-F238E27FC236}">
                    <a16:creationId xmlns:a16="http://schemas.microsoft.com/office/drawing/2014/main" id="{97E5484B-B72E-98E8-E0BE-C1894E0C34E6}"/>
                  </a:ext>
                </a:extLst>
              </p:cNvPr>
              <p:cNvSpPr/>
              <p:nvPr/>
            </p:nvSpPr>
            <p:spPr>
              <a:xfrm>
                <a:off x="3432686" y="6727928"/>
                <a:ext cx="79500" cy="79500"/>
              </a:xfrm>
              <a:prstGeom prst="mathMultiply">
                <a:avLst>
                  <a:gd name="adj1" fmla="val 23520"/>
                </a:avLst>
              </a:prstGeom>
              <a:solidFill>
                <a:srgbClr val="C00000"/>
              </a:solidFill>
              <a:ln w="1270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019;p54">
                <a:extLst>
                  <a:ext uri="{FF2B5EF4-FFF2-40B4-BE49-F238E27FC236}">
                    <a16:creationId xmlns:a16="http://schemas.microsoft.com/office/drawing/2014/main" id="{9BDB280D-8241-8EB2-D9B9-D5543888BA4B}"/>
                  </a:ext>
                </a:extLst>
              </p:cNvPr>
              <p:cNvSpPr/>
              <p:nvPr/>
            </p:nvSpPr>
            <p:spPr>
              <a:xfrm>
                <a:off x="3392839" y="6841039"/>
                <a:ext cx="79500" cy="79500"/>
              </a:xfrm>
              <a:prstGeom prst="mathMultiply">
                <a:avLst>
                  <a:gd name="adj1" fmla="val 23520"/>
                </a:avLst>
              </a:prstGeom>
              <a:solidFill>
                <a:srgbClr val="C00000"/>
              </a:solidFill>
              <a:ln w="1270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020;p54">
                <a:extLst>
                  <a:ext uri="{FF2B5EF4-FFF2-40B4-BE49-F238E27FC236}">
                    <a16:creationId xmlns:a16="http://schemas.microsoft.com/office/drawing/2014/main" id="{7A8CB326-D4AC-3B51-6A45-06F91986A88B}"/>
                  </a:ext>
                </a:extLst>
              </p:cNvPr>
              <p:cNvSpPr/>
              <p:nvPr/>
            </p:nvSpPr>
            <p:spPr>
              <a:xfrm>
                <a:off x="3313371" y="7204591"/>
                <a:ext cx="79500" cy="795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12700" cap="flat" cmpd="sng">
                <a:solidFill>
                  <a:srgbClr val="75707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021;p54">
                <a:extLst>
                  <a:ext uri="{FF2B5EF4-FFF2-40B4-BE49-F238E27FC236}">
                    <a16:creationId xmlns:a16="http://schemas.microsoft.com/office/drawing/2014/main" id="{46FD1BB3-5137-621E-9E81-C76F09872AEA}"/>
                  </a:ext>
                </a:extLst>
              </p:cNvPr>
              <p:cNvSpPr/>
              <p:nvPr/>
            </p:nvSpPr>
            <p:spPr>
              <a:xfrm>
                <a:off x="3437153" y="7204590"/>
                <a:ext cx="79500" cy="79500"/>
              </a:xfrm>
              <a:prstGeom prst="mathMultiply">
                <a:avLst>
                  <a:gd name="adj1" fmla="val 23520"/>
                </a:avLst>
              </a:prstGeom>
              <a:solidFill>
                <a:srgbClr val="C00000"/>
              </a:solidFill>
              <a:ln w="1270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1" name="Google Shape;1022;p54">
              <a:extLst>
                <a:ext uri="{FF2B5EF4-FFF2-40B4-BE49-F238E27FC236}">
                  <a16:creationId xmlns:a16="http://schemas.microsoft.com/office/drawing/2014/main" id="{BBD6A110-CA17-B37C-FB98-B0B0F5F54E95}"/>
                </a:ext>
              </a:extLst>
            </p:cNvPr>
            <p:cNvSpPr/>
            <p:nvPr/>
          </p:nvSpPr>
          <p:spPr>
            <a:xfrm>
              <a:off x="38185652" y="10816013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023;p54">
              <a:extLst>
                <a:ext uri="{FF2B5EF4-FFF2-40B4-BE49-F238E27FC236}">
                  <a16:creationId xmlns:a16="http://schemas.microsoft.com/office/drawing/2014/main" id="{1D82CC05-866D-CD2D-358E-48828FB343A2}"/>
                </a:ext>
              </a:extLst>
            </p:cNvPr>
            <p:cNvSpPr/>
            <p:nvPr/>
          </p:nvSpPr>
          <p:spPr>
            <a:xfrm>
              <a:off x="38236604" y="10704050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024;p54">
              <a:extLst>
                <a:ext uri="{FF2B5EF4-FFF2-40B4-BE49-F238E27FC236}">
                  <a16:creationId xmlns:a16="http://schemas.microsoft.com/office/drawing/2014/main" id="{AF37EB4C-3946-09BC-F8B1-4AD92838B9E4}"/>
                </a:ext>
              </a:extLst>
            </p:cNvPr>
            <p:cNvSpPr/>
            <p:nvPr/>
          </p:nvSpPr>
          <p:spPr>
            <a:xfrm>
              <a:off x="38464563" y="10529450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025;p54">
              <a:extLst>
                <a:ext uri="{FF2B5EF4-FFF2-40B4-BE49-F238E27FC236}">
                  <a16:creationId xmlns:a16="http://schemas.microsoft.com/office/drawing/2014/main" id="{B2AAD3A1-2CBD-43DA-272F-CDAC8968165A}"/>
                </a:ext>
              </a:extLst>
            </p:cNvPr>
            <p:cNvSpPr/>
            <p:nvPr/>
          </p:nvSpPr>
          <p:spPr>
            <a:xfrm>
              <a:off x="38464563" y="10666445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026;p54">
              <a:extLst>
                <a:ext uri="{FF2B5EF4-FFF2-40B4-BE49-F238E27FC236}">
                  <a16:creationId xmlns:a16="http://schemas.microsoft.com/office/drawing/2014/main" id="{A2ED38D0-86B0-B2E6-FFB7-B7E62AA688F9}"/>
                </a:ext>
              </a:extLst>
            </p:cNvPr>
            <p:cNvSpPr/>
            <p:nvPr/>
          </p:nvSpPr>
          <p:spPr>
            <a:xfrm>
              <a:off x="38552580" y="10722068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027;p54">
              <a:extLst>
                <a:ext uri="{FF2B5EF4-FFF2-40B4-BE49-F238E27FC236}">
                  <a16:creationId xmlns:a16="http://schemas.microsoft.com/office/drawing/2014/main" id="{42D5B4D2-7936-8693-2863-46755BA6EFA6}"/>
                </a:ext>
              </a:extLst>
            </p:cNvPr>
            <p:cNvSpPr/>
            <p:nvPr/>
          </p:nvSpPr>
          <p:spPr>
            <a:xfrm>
              <a:off x="38549227" y="1063886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028;p54">
              <a:extLst>
                <a:ext uri="{FF2B5EF4-FFF2-40B4-BE49-F238E27FC236}">
                  <a16:creationId xmlns:a16="http://schemas.microsoft.com/office/drawing/2014/main" id="{FC02E94A-358E-D352-829E-BC9E4FAFCD40}"/>
                </a:ext>
              </a:extLst>
            </p:cNvPr>
            <p:cNvSpPr/>
            <p:nvPr/>
          </p:nvSpPr>
          <p:spPr>
            <a:xfrm>
              <a:off x="38668639" y="10560418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029;p54">
              <a:extLst>
                <a:ext uri="{FF2B5EF4-FFF2-40B4-BE49-F238E27FC236}">
                  <a16:creationId xmlns:a16="http://schemas.microsoft.com/office/drawing/2014/main" id="{119DEF16-6432-3570-0A3F-645D6B284ECF}"/>
                </a:ext>
              </a:extLst>
            </p:cNvPr>
            <p:cNvSpPr/>
            <p:nvPr/>
          </p:nvSpPr>
          <p:spPr>
            <a:xfrm>
              <a:off x="38661664" y="10688192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030;p54">
              <a:extLst>
                <a:ext uri="{FF2B5EF4-FFF2-40B4-BE49-F238E27FC236}">
                  <a16:creationId xmlns:a16="http://schemas.microsoft.com/office/drawing/2014/main" id="{C51F636E-FEF4-6FC9-BFF9-4A57257C2C85}"/>
                </a:ext>
              </a:extLst>
            </p:cNvPr>
            <p:cNvSpPr/>
            <p:nvPr/>
          </p:nvSpPr>
          <p:spPr>
            <a:xfrm>
              <a:off x="38780306" y="10632401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031;p54">
              <a:extLst>
                <a:ext uri="{FF2B5EF4-FFF2-40B4-BE49-F238E27FC236}">
                  <a16:creationId xmlns:a16="http://schemas.microsoft.com/office/drawing/2014/main" id="{0AC69FDE-2792-0B8C-A3C4-836E38909AE7}"/>
                </a:ext>
              </a:extLst>
            </p:cNvPr>
            <p:cNvSpPr/>
            <p:nvPr/>
          </p:nvSpPr>
          <p:spPr>
            <a:xfrm>
              <a:off x="38565555" y="1031254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C00000"/>
            </a:solidFill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032;p54">
              <a:extLst>
                <a:ext uri="{FF2B5EF4-FFF2-40B4-BE49-F238E27FC236}">
                  <a16:creationId xmlns:a16="http://schemas.microsoft.com/office/drawing/2014/main" id="{B8EC7349-B1D3-65A7-6175-7588A458702C}"/>
                </a:ext>
              </a:extLst>
            </p:cNvPr>
            <p:cNvSpPr/>
            <p:nvPr/>
          </p:nvSpPr>
          <p:spPr>
            <a:xfrm>
              <a:off x="38573503" y="1011583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033;p54">
              <a:extLst>
                <a:ext uri="{FF2B5EF4-FFF2-40B4-BE49-F238E27FC236}">
                  <a16:creationId xmlns:a16="http://schemas.microsoft.com/office/drawing/2014/main" id="{6E5F6B08-82B2-69F8-E17B-3277E703A6B4}"/>
                </a:ext>
              </a:extLst>
            </p:cNvPr>
            <p:cNvSpPr/>
            <p:nvPr/>
          </p:nvSpPr>
          <p:spPr>
            <a:xfrm>
              <a:off x="38696985" y="10266813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034;p54">
              <a:extLst>
                <a:ext uri="{FF2B5EF4-FFF2-40B4-BE49-F238E27FC236}">
                  <a16:creationId xmlns:a16="http://schemas.microsoft.com/office/drawing/2014/main" id="{2461C248-00D3-ADE6-340F-6963B6290F23}"/>
                </a:ext>
              </a:extLst>
            </p:cNvPr>
            <p:cNvSpPr/>
            <p:nvPr/>
          </p:nvSpPr>
          <p:spPr>
            <a:xfrm>
              <a:off x="38658875" y="997468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035;p54">
              <a:extLst>
                <a:ext uri="{FF2B5EF4-FFF2-40B4-BE49-F238E27FC236}">
                  <a16:creationId xmlns:a16="http://schemas.microsoft.com/office/drawing/2014/main" id="{E1E62FEE-3F97-B58E-05E9-A1C39F5FB84A}"/>
                </a:ext>
              </a:extLst>
            </p:cNvPr>
            <p:cNvSpPr/>
            <p:nvPr/>
          </p:nvSpPr>
          <p:spPr>
            <a:xfrm>
              <a:off x="39196956" y="9721313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036;p54">
              <a:extLst>
                <a:ext uri="{FF2B5EF4-FFF2-40B4-BE49-F238E27FC236}">
                  <a16:creationId xmlns:a16="http://schemas.microsoft.com/office/drawing/2014/main" id="{AFBA14CD-0EBB-1228-9206-6D8E9C3DE1E2}"/>
                </a:ext>
              </a:extLst>
            </p:cNvPr>
            <p:cNvSpPr/>
            <p:nvPr/>
          </p:nvSpPr>
          <p:spPr>
            <a:xfrm>
              <a:off x="39491475" y="9621504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037;p54">
              <a:extLst>
                <a:ext uri="{FF2B5EF4-FFF2-40B4-BE49-F238E27FC236}">
                  <a16:creationId xmlns:a16="http://schemas.microsoft.com/office/drawing/2014/main" id="{74A865E3-5B90-C77C-99A3-705FB6C28929}"/>
                </a:ext>
              </a:extLst>
            </p:cNvPr>
            <p:cNvSpPr/>
            <p:nvPr/>
          </p:nvSpPr>
          <p:spPr>
            <a:xfrm>
              <a:off x="39619257" y="997468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038;p54">
              <a:extLst>
                <a:ext uri="{FF2B5EF4-FFF2-40B4-BE49-F238E27FC236}">
                  <a16:creationId xmlns:a16="http://schemas.microsoft.com/office/drawing/2014/main" id="{7D681E85-D162-A5AF-5442-7F78138BF84E}"/>
                </a:ext>
              </a:extLst>
            </p:cNvPr>
            <p:cNvSpPr/>
            <p:nvPr/>
          </p:nvSpPr>
          <p:spPr>
            <a:xfrm>
              <a:off x="39683324" y="992875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039;p54">
              <a:extLst>
                <a:ext uri="{FF2B5EF4-FFF2-40B4-BE49-F238E27FC236}">
                  <a16:creationId xmlns:a16="http://schemas.microsoft.com/office/drawing/2014/main" id="{B26CA420-E409-E472-557E-11950CF5856E}"/>
                </a:ext>
              </a:extLst>
            </p:cNvPr>
            <p:cNvSpPr/>
            <p:nvPr/>
          </p:nvSpPr>
          <p:spPr>
            <a:xfrm>
              <a:off x="39676617" y="10113591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040;p54">
              <a:extLst>
                <a:ext uri="{FF2B5EF4-FFF2-40B4-BE49-F238E27FC236}">
                  <a16:creationId xmlns:a16="http://schemas.microsoft.com/office/drawing/2014/main" id="{0A3116BF-18D6-F03C-BE80-7D88CDE51422}"/>
                </a:ext>
              </a:extLst>
            </p:cNvPr>
            <p:cNvSpPr/>
            <p:nvPr/>
          </p:nvSpPr>
          <p:spPr>
            <a:xfrm>
              <a:off x="39395018" y="10337743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041;p54">
              <a:extLst>
                <a:ext uri="{FF2B5EF4-FFF2-40B4-BE49-F238E27FC236}">
                  <a16:creationId xmlns:a16="http://schemas.microsoft.com/office/drawing/2014/main" id="{A6569EB2-32EB-C190-287C-42B9063AD387}"/>
                </a:ext>
              </a:extLst>
            </p:cNvPr>
            <p:cNvSpPr/>
            <p:nvPr/>
          </p:nvSpPr>
          <p:spPr>
            <a:xfrm>
              <a:off x="38981261" y="10827833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276741"/>
            </a:solidFill>
            <a:ln w="12700" cap="flat" cmpd="sng">
              <a:solidFill>
                <a:srgbClr val="006A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042;p54">
              <a:extLst>
                <a:ext uri="{FF2B5EF4-FFF2-40B4-BE49-F238E27FC236}">
                  <a16:creationId xmlns:a16="http://schemas.microsoft.com/office/drawing/2014/main" id="{39040808-CED8-B743-A4A3-39D71EA37606}"/>
                </a:ext>
              </a:extLst>
            </p:cNvPr>
            <p:cNvSpPr/>
            <p:nvPr/>
          </p:nvSpPr>
          <p:spPr>
            <a:xfrm>
              <a:off x="39251975" y="1073189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043;p54">
              <a:extLst>
                <a:ext uri="{FF2B5EF4-FFF2-40B4-BE49-F238E27FC236}">
                  <a16:creationId xmlns:a16="http://schemas.microsoft.com/office/drawing/2014/main" id="{448E7770-2C46-D173-4085-ADEC5EE0EAC9}"/>
                </a:ext>
              </a:extLst>
            </p:cNvPr>
            <p:cNvSpPr/>
            <p:nvPr/>
          </p:nvSpPr>
          <p:spPr>
            <a:xfrm>
              <a:off x="39322184" y="10922861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044;p54">
              <a:extLst>
                <a:ext uri="{FF2B5EF4-FFF2-40B4-BE49-F238E27FC236}">
                  <a16:creationId xmlns:a16="http://schemas.microsoft.com/office/drawing/2014/main" id="{20B18B51-F792-8E3D-C322-65535912F561}"/>
                </a:ext>
              </a:extLst>
            </p:cNvPr>
            <p:cNvSpPr/>
            <p:nvPr/>
          </p:nvSpPr>
          <p:spPr>
            <a:xfrm>
              <a:off x="39485625" y="10947693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045;p54">
              <a:extLst>
                <a:ext uri="{FF2B5EF4-FFF2-40B4-BE49-F238E27FC236}">
                  <a16:creationId xmlns:a16="http://schemas.microsoft.com/office/drawing/2014/main" id="{4D8B0C8A-B0AC-4D50-6F24-C51E6156C729}"/>
                </a:ext>
              </a:extLst>
            </p:cNvPr>
            <p:cNvSpPr/>
            <p:nvPr/>
          </p:nvSpPr>
          <p:spPr>
            <a:xfrm>
              <a:off x="39676617" y="10879424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046;p54">
              <a:extLst>
                <a:ext uri="{FF2B5EF4-FFF2-40B4-BE49-F238E27FC236}">
                  <a16:creationId xmlns:a16="http://schemas.microsoft.com/office/drawing/2014/main" id="{56A9E448-E89F-EA7E-56C2-E03DC84FAFDD}"/>
                </a:ext>
              </a:extLst>
            </p:cNvPr>
            <p:cNvSpPr/>
            <p:nvPr/>
          </p:nvSpPr>
          <p:spPr>
            <a:xfrm>
              <a:off x="39549176" y="10904375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047;p54">
              <a:extLst>
                <a:ext uri="{FF2B5EF4-FFF2-40B4-BE49-F238E27FC236}">
                  <a16:creationId xmlns:a16="http://schemas.microsoft.com/office/drawing/2014/main" id="{50DFCD08-4AC2-0D20-804E-762DED2881DD}"/>
                </a:ext>
              </a:extLst>
            </p:cNvPr>
            <p:cNvSpPr/>
            <p:nvPr/>
          </p:nvSpPr>
          <p:spPr>
            <a:xfrm>
              <a:off x="39608604" y="1080221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048;p54">
              <a:extLst>
                <a:ext uri="{FF2B5EF4-FFF2-40B4-BE49-F238E27FC236}">
                  <a16:creationId xmlns:a16="http://schemas.microsoft.com/office/drawing/2014/main" id="{CC07FB57-0E16-DF9F-CCBC-915FF835D4BE}"/>
                </a:ext>
              </a:extLst>
            </p:cNvPr>
            <p:cNvSpPr/>
            <p:nvPr/>
          </p:nvSpPr>
          <p:spPr>
            <a:xfrm>
              <a:off x="37930315" y="9693699"/>
              <a:ext cx="1387500" cy="1387500"/>
            </a:xfrm>
            <a:prstGeom prst="ellipse">
              <a:avLst/>
            </a:prstGeom>
            <a:noFill/>
            <a:ln w="9525" cap="flat" cmpd="sng">
              <a:solidFill>
                <a:srgbClr val="1C305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049;p54">
              <a:extLst>
                <a:ext uri="{FF2B5EF4-FFF2-40B4-BE49-F238E27FC236}">
                  <a16:creationId xmlns:a16="http://schemas.microsoft.com/office/drawing/2014/main" id="{1488C92A-4219-6882-4D16-D96D6DDD8B2F}"/>
                </a:ext>
              </a:extLst>
            </p:cNvPr>
            <p:cNvSpPr/>
            <p:nvPr/>
          </p:nvSpPr>
          <p:spPr>
            <a:xfrm>
              <a:off x="35081408" y="9376545"/>
              <a:ext cx="2568000" cy="1755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050;p54">
              <a:extLst>
                <a:ext uri="{FF2B5EF4-FFF2-40B4-BE49-F238E27FC236}">
                  <a16:creationId xmlns:a16="http://schemas.microsoft.com/office/drawing/2014/main" id="{319ADB0C-7FDD-D3B9-57E2-E255DF448186}"/>
                </a:ext>
              </a:extLst>
            </p:cNvPr>
            <p:cNvSpPr/>
            <p:nvPr/>
          </p:nvSpPr>
          <p:spPr>
            <a:xfrm>
              <a:off x="36469519" y="9727539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051;p54">
              <a:extLst>
                <a:ext uri="{FF2B5EF4-FFF2-40B4-BE49-F238E27FC236}">
                  <a16:creationId xmlns:a16="http://schemas.microsoft.com/office/drawing/2014/main" id="{A41A3C32-0855-A5B2-8378-1283DEDA4922}"/>
                </a:ext>
              </a:extLst>
            </p:cNvPr>
            <p:cNvSpPr/>
            <p:nvPr/>
          </p:nvSpPr>
          <p:spPr>
            <a:xfrm>
              <a:off x="36524538" y="10738121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052;p54">
              <a:extLst>
                <a:ext uri="{FF2B5EF4-FFF2-40B4-BE49-F238E27FC236}">
                  <a16:creationId xmlns:a16="http://schemas.microsoft.com/office/drawing/2014/main" id="{092FF36D-4697-5D0A-2E74-D26492745CD7}"/>
                </a:ext>
              </a:extLst>
            </p:cNvPr>
            <p:cNvSpPr/>
            <p:nvPr/>
          </p:nvSpPr>
          <p:spPr>
            <a:xfrm>
              <a:off x="36821739" y="1091059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053;p54">
              <a:extLst>
                <a:ext uri="{FF2B5EF4-FFF2-40B4-BE49-F238E27FC236}">
                  <a16:creationId xmlns:a16="http://schemas.microsoft.com/office/drawing/2014/main" id="{EEE80EF9-2124-213E-5CEB-6F9A5B3BF97C}"/>
                </a:ext>
              </a:extLst>
            </p:cNvPr>
            <p:cNvSpPr/>
            <p:nvPr/>
          </p:nvSpPr>
          <p:spPr>
            <a:xfrm>
              <a:off x="35614243" y="9367382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054;p54">
              <a:extLst>
                <a:ext uri="{FF2B5EF4-FFF2-40B4-BE49-F238E27FC236}">
                  <a16:creationId xmlns:a16="http://schemas.microsoft.com/office/drawing/2014/main" id="{5DCED543-02F2-6E5B-E89B-BF3D515C162D}"/>
                </a:ext>
              </a:extLst>
            </p:cNvPr>
            <p:cNvSpPr/>
            <p:nvPr/>
          </p:nvSpPr>
          <p:spPr>
            <a:xfrm>
              <a:off x="35298011" y="10803609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055;p54">
              <a:extLst>
                <a:ext uri="{FF2B5EF4-FFF2-40B4-BE49-F238E27FC236}">
                  <a16:creationId xmlns:a16="http://schemas.microsoft.com/office/drawing/2014/main" id="{A58AD2C8-B6D5-F053-FD49-CCF8124C301D}"/>
                </a:ext>
              </a:extLst>
            </p:cNvPr>
            <p:cNvSpPr/>
            <p:nvPr/>
          </p:nvSpPr>
          <p:spPr>
            <a:xfrm>
              <a:off x="36764038" y="9627728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056;p54">
              <a:extLst>
                <a:ext uri="{FF2B5EF4-FFF2-40B4-BE49-F238E27FC236}">
                  <a16:creationId xmlns:a16="http://schemas.microsoft.com/office/drawing/2014/main" id="{359F8362-226A-4E12-89F5-67739687E691}"/>
                </a:ext>
              </a:extLst>
            </p:cNvPr>
            <p:cNvSpPr/>
            <p:nvPr/>
          </p:nvSpPr>
          <p:spPr>
            <a:xfrm>
              <a:off x="36891820" y="9980909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057;p54">
              <a:extLst>
                <a:ext uri="{FF2B5EF4-FFF2-40B4-BE49-F238E27FC236}">
                  <a16:creationId xmlns:a16="http://schemas.microsoft.com/office/drawing/2014/main" id="{107C1FAF-0504-DCF1-8131-D4E7A99E3305}"/>
                </a:ext>
              </a:extLst>
            </p:cNvPr>
            <p:cNvSpPr/>
            <p:nvPr/>
          </p:nvSpPr>
          <p:spPr>
            <a:xfrm>
              <a:off x="36955886" y="9934981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058;p54">
              <a:extLst>
                <a:ext uri="{FF2B5EF4-FFF2-40B4-BE49-F238E27FC236}">
                  <a16:creationId xmlns:a16="http://schemas.microsoft.com/office/drawing/2014/main" id="{6C4D07E4-3C47-DB53-36B2-D7DF26A06E34}"/>
                </a:ext>
              </a:extLst>
            </p:cNvPr>
            <p:cNvSpPr/>
            <p:nvPr/>
          </p:nvSpPr>
          <p:spPr>
            <a:xfrm>
              <a:off x="36949180" y="10119815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059;p54">
              <a:extLst>
                <a:ext uri="{FF2B5EF4-FFF2-40B4-BE49-F238E27FC236}">
                  <a16:creationId xmlns:a16="http://schemas.microsoft.com/office/drawing/2014/main" id="{9B8252C5-0CEA-B9D5-857C-21BAAD52B7F3}"/>
                </a:ext>
              </a:extLst>
            </p:cNvPr>
            <p:cNvSpPr/>
            <p:nvPr/>
          </p:nvSpPr>
          <p:spPr>
            <a:xfrm>
              <a:off x="36667579" y="10343967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89" name="Google Shape;1060;p54">
              <a:extLst>
                <a:ext uri="{FF2B5EF4-FFF2-40B4-BE49-F238E27FC236}">
                  <a16:creationId xmlns:a16="http://schemas.microsoft.com/office/drawing/2014/main" id="{54F303B0-CA9B-40E5-99C1-C2ADCC45C407}"/>
                </a:ext>
              </a:extLst>
            </p:cNvPr>
            <p:cNvGrpSpPr/>
            <p:nvPr/>
          </p:nvGrpSpPr>
          <p:grpSpPr>
            <a:xfrm>
              <a:off x="35441284" y="9944034"/>
              <a:ext cx="955857" cy="1033281"/>
              <a:chOff x="1154837" y="4190043"/>
              <a:chExt cx="640140" cy="691991"/>
            </a:xfrm>
          </p:grpSpPr>
          <p:sp>
            <p:nvSpPr>
              <p:cNvPr id="1290" name="Google Shape;1061;p54">
                <a:extLst>
                  <a:ext uri="{FF2B5EF4-FFF2-40B4-BE49-F238E27FC236}">
                    <a16:creationId xmlns:a16="http://schemas.microsoft.com/office/drawing/2014/main" id="{59E3FD23-658E-278B-2012-1DB8855ED2A3}"/>
                  </a:ext>
                </a:extLst>
              </p:cNvPr>
              <p:cNvSpPr/>
              <p:nvPr/>
            </p:nvSpPr>
            <p:spPr>
              <a:xfrm>
                <a:off x="1154837" y="4326632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062;p54">
                <a:extLst>
                  <a:ext uri="{FF2B5EF4-FFF2-40B4-BE49-F238E27FC236}">
                    <a16:creationId xmlns:a16="http://schemas.microsoft.com/office/drawing/2014/main" id="{6C13FB80-E328-5967-A124-9D632A93AAA2}"/>
                  </a:ext>
                </a:extLst>
              </p:cNvPr>
              <p:cNvSpPr/>
              <p:nvPr/>
            </p:nvSpPr>
            <p:spPr>
              <a:xfrm>
                <a:off x="1208349" y="4765643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063;p54">
                <a:extLst>
                  <a:ext uri="{FF2B5EF4-FFF2-40B4-BE49-F238E27FC236}">
                    <a16:creationId xmlns:a16="http://schemas.microsoft.com/office/drawing/2014/main" id="{D4401879-B110-1844-8EC6-6EDF58BCF87F}"/>
                  </a:ext>
                </a:extLst>
              </p:cNvPr>
              <p:cNvSpPr/>
              <p:nvPr/>
            </p:nvSpPr>
            <p:spPr>
              <a:xfrm>
                <a:off x="1202956" y="4190043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064;p54">
                <a:extLst>
                  <a:ext uri="{FF2B5EF4-FFF2-40B4-BE49-F238E27FC236}">
                    <a16:creationId xmlns:a16="http://schemas.microsoft.com/office/drawing/2014/main" id="{4632F96D-B8BA-75C1-3F6F-18D69D17BFD7}"/>
                  </a:ext>
                </a:extLst>
              </p:cNvPr>
              <p:cNvSpPr/>
              <p:nvPr/>
            </p:nvSpPr>
            <p:spPr>
              <a:xfrm>
                <a:off x="1166163" y="4778120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065;p54">
                <a:extLst>
                  <a:ext uri="{FF2B5EF4-FFF2-40B4-BE49-F238E27FC236}">
                    <a16:creationId xmlns:a16="http://schemas.microsoft.com/office/drawing/2014/main" id="{E4698A48-1468-A281-46DF-15ECE6F90AF3}"/>
                  </a:ext>
                </a:extLst>
              </p:cNvPr>
              <p:cNvSpPr/>
              <p:nvPr/>
            </p:nvSpPr>
            <p:spPr>
              <a:xfrm>
                <a:off x="1200284" y="4703137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066;p54">
                <a:extLst>
                  <a:ext uri="{FF2B5EF4-FFF2-40B4-BE49-F238E27FC236}">
                    <a16:creationId xmlns:a16="http://schemas.microsoft.com/office/drawing/2014/main" id="{F3F0A5A3-03ED-0933-C643-81480FBC9FA1}"/>
                  </a:ext>
                </a:extLst>
              </p:cNvPr>
              <p:cNvSpPr/>
              <p:nvPr/>
            </p:nvSpPr>
            <p:spPr>
              <a:xfrm>
                <a:off x="1352946" y="4586207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067;p54">
                <a:extLst>
                  <a:ext uri="{FF2B5EF4-FFF2-40B4-BE49-F238E27FC236}">
                    <a16:creationId xmlns:a16="http://schemas.microsoft.com/office/drawing/2014/main" id="{6292CF6E-9BE2-08B9-0242-C7A3504CAD51}"/>
                  </a:ext>
                </a:extLst>
              </p:cNvPr>
              <p:cNvSpPr/>
              <p:nvPr/>
            </p:nvSpPr>
            <p:spPr>
              <a:xfrm>
                <a:off x="1352946" y="4677954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068;p54">
                <a:extLst>
                  <a:ext uri="{FF2B5EF4-FFF2-40B4-BE49-F238E27FC236}">
                    <a16:creationId xmlns:a16="http://schemas.microsoft.com/office/drawing/2014/main" id="{B870CFED-95E1-BDAC-56C4-34A931F4578B}"/>
                  </a:ext>
                </a:extLst>
              </p:cNvPr>
              <p:cNvSpPr/>
              <p:nvPr/>
            </p:nvSpPr>
            <p:spPr>
              <a:xfrm>
                <a:off x="1411893" y="4715204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069;p54">
                <a:extLst>
                  <a:ext uri="{FF2B5EF4-FFF2-40B4-BE49-F238E27FC236}">
                    <a16:creationId xmlns:a16="http://schemas.microsoft.com/office/drawing/2014/main" id="{A9EC02FF-F43A-D4DF-6854-CDF26F73B722}"/>
                  </a:ext>
                </a:extLst>
              </p:cNvPr>
              <p:cNvSpPr/>
              <p:nvPr/>
            </p:nvSpPr>
            <p:spPr>
              <a:xfrm>
                <a:off x="1409645" y="4659486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070;p54">
                <a:extLst>
                  <a:ext uri="{FF2B5EF4-FFF2-40B4-BE49-F238E27FC236}">
                    <a16:creationId xmlns:a16="http://schemas.microsoft.com/office/drawing/2014/main" id="{E842F221-4CC3-4D8A-E457-3439E6232864}"/>
                  </a:ext>
                </a:extLst>
              </p:cNvPr>
              <p:cNvSpPr/>
              <p:nvPr/>
            </p:nvSpPr>
            <p:spPr>
              <a:xfrm>
                <a:off x="1489615" y="4606949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071;p54">
                <a:extLst>
                  <a:ext uri="{FF2B5EF4-FFF2-40B4-BE49-F238E27FC236}">
                    <a16:creationId xmlns:a16="http://schemas.microsoft.com/office/drawing/2014/main" id="{2E33FA93-D806-B6B1-EF92-DD510F8E1010}"/>
                  </a:ext>
                </a:extLst>
              </p:cNvPr>
              <p:cNvSpPr/>
              <p:nvPr/>
            </p:nvSpPr>
            <p:spPr>
              <a:xfrm>
                <a:off x="1484944" y="4692519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072;p54">
                <a:extLst>
                  <a:ext uri="{FF2B5EF4-FFF2-40B4-BE49-F238E27FC236}">
                    <a16:creationId xmlns:a16="http://schemas.microsoft.com/office/drawing/2014/main" id="{6A110705-5652-99A1-84C6-3FED2B4BE11F}"/>
                  </a:ext>
                </a:extLst>
              </p:cNvPr>
              <p:cNvSpPr/>
              <p:nvPr/>
            </p:nvSpPr>
            <p:spPr>
              <a:xfrm>
                <a:off x="1564400" y="4655156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073;p54">
                <a:extLst>
                  <a:ext uri="{FF2B5EF4-FFF2-40B4-BE49-F238E27FC236}">
                    <a16:creationId xmlns:a16="http://schemas.microsoft.com/office/drawing/2014/main" id="{0089549B-2664-149E-03B2-7160C6B216C2}"/>
                  </a:ext>
                </a:extLst>
              </p:cNvPr>
              <p:cNvSpPr/>
              <p:nvPr/>
            </p:nvSpPr>
            <p:spPr>
              <a:xfrm>
                <a:off x="1425903" y="4309215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074;p54">
                <a:extLst>
                  <a:ext uri="{FF2B5EF4-FFF2-40B4-BE49-F238E27FC236}">
                    <a16:creationId xmlns:a16="http://schemas.microsoft.com/office/drawing/2014/main" id="{146BF140-BBEF-459F-3C1D-3318CF5FC4A2}"/>
                  </a:ext>
                </a:extLst>
              </p:cNvPr>
              <p:cNvSpPr/>
              <p:nvPr/>
            </p:nvSpPr>
            <p:spPr>
              <a:xfrm>
                <a:off x="1508599" y="4410323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075;p54">
                <a:extLst>
                  <a:ext uri="{FF2B5EF4-FFF2-40B4-BE49-F238E27FC236}">
                    <a16:creationId xmlns:a16="http://schemas.microsoft.com/office/drawing/2014/main" id="{0F897287-D3EC-8125-7755-8FA448B0864F}"/>
                  </a:ext>
                </a:extLst>
              </p:cNvPr>
              <p:cNvSpPr/>
              <p:nvPr/>
            </p:nvSpPr>
            <p:spPr>
              <a:xfrm>
                <a:off x="1483077" y="4214687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076;p54">
                <a:extLst>
                  <a:ext uri="{FF2B5EF4-FFF2-40B4-BE49-F238E27FC236}">
                    <a16:creationId xmlns:a16="http://schemas.microsoft.com/office/drawing/2014/main" id="{5A538651-D418-ECE5-0144-3C2CB4A913CA}"/>
                  </a:ext>
                </a:extLst>
              </p:cNvPr>
              <p:cNvSpPr/>
              <p:nvPr/>
            </p:nvSpPr>
            <p:spPr>
              <a:xfrm>
                <a:off x="1698977" y="4786034"/>
                <a:ext cx="96000" cy="960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 w="9525" cap="flat" cmpd="sng">
                <a:solidFill>
                  <a:srgbClr val="35B74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6" name="Google Shape;1077;p54">
              <a:extLst>
                <a:ext uri="{FF2B5EF4-FFF2-40B4-BE49-F238E27FC236}">
                  <a16:creationId xmlns:a16="http://schemas.microsoft.com/office/drawing/2014/main" id="{CAE6EE24-9E5D-F209-BC5F-64EC396DEFDA}"/>
                </a:ext>
              </a:extLst>
            </p:cNvPr>
            <p:cNvSpPr/>
            <p:nvPr/>
          </p:nvSpPr>
          <p:spPr>
            <a:xfrm>
              <a:off x="36594749" y="10929083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078;p54">
              <a:extLst>
                <a:ext uri="{FF2B5EF4-FFF2-40B4-BE49-F238E27FC236}">
                  <a16:creationId xmlns:a16="http://schemas.microsoft.com/office/drawing/2014/main" id="{2D646D99-FB0D-8664-EB3B-C8AC3D7CF53D}"/>
                </a:ext>
              </a:extLst>
            </p:cNvPr>
            <p:cNvSpPr/>
            <p:nvPr/>
          </p:nvSpPr>
          <p:spPr>
            <a:xfrm>
              <a:off x="36949180" y="10885646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079;p54">
              <a:extLst>
                <a:ext uri="{FF2B5EF4-FFF2-40B4-BE49-F238E27FC236}">
                  <a16:creationId xmlns:a16="http://schemas.microsoft.com/office/drawing/2014/main" id="{590194A9-7097-B3B3-7569-16E5F73E3851}"/>
                </a:ext>
              </a:extLst>
            </p:cNvPr>
            <p:cNvSpPr/>
            <p:nvPr/>
          </p:nvSpPr>
          <p:spPr>
            <a:xfrm>
              <a:off x="36881166" y="10808441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757070"/>
            </a:solidFill>
            <a:ln w="12700" cap="flat" cmpd="sng">
              <a:solidFill>
                <a:srgbClr val="7570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080;p54">
              <a:extLst>
                <a:ext uri="{FF2B5EF4-FFF2-40B4-BE49-F238E27FC236}">
                  <a16:creationId xmlns:a16="http://schemas.microsoft.com/office/drawing/2014/main" id="{A6FE521C-EB27-1540-127F-7541AD146242}"/>
                </a:ext>
              </a:extLst>
            </p:cNvPr>
            <p:cNvSpPr/>
            <p:nvPr/>
          </p:nvSpPr>
          <p:spPr>
            <a:xfrm>
              <a:off x="35224002" y="9693699"/>
              <a:ext cx="1387500" cy="1387500"/>
            </a:xfrm>
            <a:prstGeom prst="ellipse">
              <a:avLst/>
            </a:prstGeom>
            <a:noFill/>
            <a:ln w="9525" cap="flat" cmpd="sng">
              <a:solidFill>
                <a:srgbClr val="1C305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10" name="Google Shape;1081;p54">
              <a:extLst>
                <a:ext uri="{FF2B5EF4-FFF2-40B4-BE49-F238E27FC236}">
                  <a16:creationId xmlns:a16="http://schemas.microsoft.com/office/drawing/2014/main" id="{C30E09F9-7B6E-44E3-535A-27A074E1D526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5914317" y="10157114"/>
              <a:ext cx="663600" cy="240000"/>
            </a:xfrm>
            <a:prstGeom prst="straightConnector1">
              <a:avLst/>
            </a:prstGeom>
            <a:noFill/>
            <a:ln w="9525" cap="flat" cmpd="sng">
              <a:solidFill>
                <a:srgbClr val="3A383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11" name="Google Shape;1082;p54">
              <a:extLst>
                <a:ext uri="{FF2B5EF4-FFF2-40B4-BE49-F238E27FC236}">
                  <a16:creationId xmlns:a16="http://schemas.microsoft.com/office/drawing/2014/main" id="{818AFD0D-DFD6-EFDE-BE6C-B995FBFC632D}"/>
                </a:ext>
              </a:extLst>
            </p:cNvPr>
            <p:cNvSpPr txBox="1"/>
            <p:nvPr/>
          </p:nvSpPr>
          <p:spPr>
            <a:xfrm rot="-1203497">
              <a:off x="36217092" y="10050492"/>
              <a:ext cx="234419" cy="2616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083;p54">
              <a:extLst>
                <a:ext uri="{FF2B5EF4-FFF2-40B4-BE49-F238E27FC236}">
                  <a16:creationId xmlns:a16="http://schemas.microsoft.com/office/drawing/2014/main" id="{B4EB6E2D-10EF-C5FB-B060-AFA7B238DD7D}"/>
                </a:ext>
              </a:extLst>
            </p:cNvPr>
            <p:cNvSpPr/>
            <p:nvPr/>
          </p:nvSpPr>
          <p:spPr>
            <a:xfrm>
              <a:off x="35838118" y="10318772"/>
              <a:ext cx="143400" cy="143400"/>
            </a:xfrm>
            <a:prstGeom prst="mathMultiply">
              <a:avLst>
                <a:gd name="adj1" fmla="val 23520"/>
              </a:avLst>
            </a:prstGeom>
            <a:solidFill>
              <a:srgbClr val="00B050"/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sx="82000" sy="82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3" name="Google Shape;1084;p54">
              <a:extLst>
                <a:ext uri="{FF2B5EF4-FFF2-40B4-BE49-F238E27FC236}">
                  <a16:creationId xmlns:a16="http://schemas.microsoft.com/office/drawing/2014/main" id="{14C80DD5-10A8-6458-EFA3-AE259D19ED50}"/>
                </a:ext>
              </a:extLst>
            </p:cNvPr>
            <p:cNvGrpSpPr/>
            <p:nvPr/>
          </p:nvGrpSpPr>
          <p:grpSpPr>
            <a:xfrm>
              <a:off x="32506231" y="9439074"/>
              <a:ext cx="2407565" cy="1640072"/>
              <a:chOff x="6135974" y="482996"/>
              <a:chExt cx="4348925" cy="2962558"/>
            </a:xfrm>
          </p:grpSpPr>
          <p:sp>
            <p:nvSpPr>
              <p:cNvPr id="1314" name="Google Shape;1085;p54">
                <a:extLst>
                  <a:ext uri="{FF2B5EF4-FFF2-40B4-BE49-F238E27FC236}">
                    <a16:creationId xmlns:a16="http://schemas.microsoft.com/office/drawing/2014/main" id="{27CA5102-E2DB-2759-8C0F-4802E22B9467}"/>
                  </a:ext>
                </a:extLst>
              </p:cNvPr>
              <p:cNvSpPr/>
              <p:nvPr/>
            </p:nvSpPr>
            <p:spPr>
              <a:xfrm>
                <a:off x="7291394" y="1625602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086;p54">
                <a:extLst>
                  <a:ext uri="{FF2B5EF4-FFF2-40B4-BE49-F238E27FC236}">
                    <a16:creationId xmlns:a16="http://schemas.microsoft.com/office/drawing/2014/main" id="{C4CE44A1-A307-BD62-2FF4-BD71701C5720}"/>
                  </a:ext>
                </a:extLst>
              </p:cNvPr>
              <p:cNvSpPr/>
              <p:nvPr/>
            </p:nvSpPr>
            <p:spPr>
              <a:xfrm>
                <a:off x="7034766" y="1425368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087;p54">
                <a:extLst>
                  <a:ext uri="{FF2B5EF4-FFF2-40B4-BE49-F238E27FC236}">
                    <a16:creationId xmlns:a16="http://schemas.microsoft.com/office/drawing/2014/main" id="{A7B389F3-2083-B65B-CCD6-B3B87B22DA05}"/>
                  </a:ext>
                </a:extLst>
              </p:cNvPr>
              <p:cNvSpPr/>
              <p:nvPr/>
            </p:nvSpPr>
            <p:spPr>
              <a:xfrm>
                <a:off x="6846827" y="1325840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088;p54">
                <a:extLst>
                  <a:ext uri="{FF2B5EF4-FFF2-40B4-BE49-F238E27FC236}">
                    <a16:creationId xmlns:a16="http://schemas.microsoft.com/office/drawing/2014/main" id="{1EA7F676-F34F-6DDF-2257-96FCE8D36901}"/>
                  </a:ext>
                </a:extLst>
              </p:cNvPr>
              <p:cNvSpPr/>
              <p:nvPr/>
            </p:nvSpPr>
            <p:spPr>
              <a:xfrm>
                <a:off x="6700364" y="1312499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089;p54">
                <a:extLst>
                  <a:ext uri="{FF2B5EF4-FFF2-40B4-BE49-F238E27FC236}">
                    <a16:creationId xmlns:a16="http://schemas.microsoft.com/office/drawing/2014/main" id="{2DC13D19-9D7D-419D-3BA0-CCB35077919F}"/>
                  </a:ext>
                </a:extLst>
              </p:cNvPr>
              <p:cNvSpPr/>
              <p:nvPr/>
            </p:nvSpPr>
            <p:spPr>
              <a:xfrm>
                <a:off x="6135974" y="1282314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090;p54">
                <a:extLst>
                  <a:ext uri="{FF2B5EF4-FFF2-40B4-BE49-F238E27FC236}">
                    <a16:creationId xmlns:a16="http://schemas.microsoft.com/office/drawing/2014/main" id="{742C7993-9DED-13A5-F770-49549C3621C7}"/>
                  </a:ext>
                </a:extLst>
              </p:cNvPr>
              <p:cNvSpPr/>
              <p:nvPr/>
            </p:nvSpPr>
            <p:spPr>
              <a:xfrm>
                <a:off x="8043051" y="756137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091;p54">
                <a:extLst>
                  <a:ext uri="{FF2B5EF4-FFF2-40B4-BE49-F238E27FC236}">
                    <a16:creationId xmlns:a16="http://schemas.microsoft.com/office/drawing/2014/main" id="{67440A47-4D5E-C495-E1DE-7330E5399882}"/>
                  </a:ext>
                </a:extLst>
              </p:cNvPr>
              <p:cNvSpPr/>
              <p:nvPr/>
            </p:nvSpPr>
            <p:spPr>
              <a:xfrm>
                <a:off x="7941589" y="1335003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092;p54">
                <a:extLst>
                  <a:ext uri="{FF2B5EF4-FFF2-40B4-BE49-F238E27FC236}">
                    <a16:creationId xmlns:a16="http://schemas.microsoft.com/office/drawing/2014/main" id="{D6FB84E4-089A-EDDE-0288-E2A0872DFEC5}"/>
                  </a:ext>
                </a:extLst>
              </p:cNvPr>
              <p:cNvSpPr/>
              <p:nvPr/>
            </p:nvSpPr>
            <p:spPr>
              <a:xfrm>
                <a:off x="7869472" y="1539715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093;p54">
                <a:extLst>
                  <a:ext uri="{FF2B5EF4-FFF2-40B4-BE49-F238E27FC236}">
                    <a16:creationId xmlns:a16="http://schemas.microsoft.com/office/drawing/2014/main" id="{81AF569E-488B-6E84-B612-445B4D377481}"/>
                  </a:ext>
                </a:extLst>
              </p:cNvPr>
              <p:cNvSpPr/>
              <p:nvPr/>
            </p:nvSpPr>
            <p:spPr>
              <a:xfrm>
                <a:off x="7725647" y="2197686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094;p54">
                <a:extLst>
                  <a:ext uri="{FF2B5EF4-FFF2-40B4-BE49-F238E27FC236}">
                    <a16:creationId xmlns:a16="http://schemas.microsoft.com/office/drawing/2014/main" id="{1496805E-BBD8-AAF0-7BDA-7C66BC11EB0B}"/>
                  </a:ext>
                </a:extLst>
              </p:cNvPr>
              <p:cNvSpPr/>
              <p:nvPr/>
            </p:nvSpPr>
            <p:spPr>
              <a:xfrm>
                <a:off x="7886445" y="2216383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095;p54">
                <a:extLst>
                  <a:ext uri="{FF2B5EF4-FFF2-40B4-BE49-F238E27FC236}">
                    <a16:creationId xmlns:a16="http://schemas.microsoft.com/office/drawing/2014/main" id="{F8441232-6457-E1B2-0053-31FC638F061A}"/>
                  </a:ext>
                </a:extLst>
              </p:cNvPr>
              <p:cNvSpPr/>
              <p:nvPr/>
            </p:nvSpPr>
            <p:spPr>
              <a:xfrm>
                <a:off x="7949672" y="2197685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096;p54">
                <a:extLst>
                  <a:ext uri="{FF2B5EF4-FFF2-40B4-BE49-F238E27FC236}">
                    <a16:creationId xmlns:a16="http://schemas.microsoft.com/office/drawing/2014/main" id="{AC58317C-1BAD-B212-0D8C-0C9BD236FB79}"/>
                  </a:ext>
                </a:extLst>
              </p:cNvPr>
              <p:cNvSpPr/>
              <p:nvPr/>
            </p:nvSpPr>
            <p:spPr>
              <a:xfrm>
                <a:off x="7937585" y="2104004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097;p54">
                <a:extLst>
                  <a:ext uri="{FF2B5EF4-FFF2-40B4-BE49-F238E27FC236}">
                    <a16:creationId xmlns:a16="http://schemas.microsoft.com/office/drawing/2014/main" id="{2EF07434-079F-C4F6-6CAF-53599D58D65D}"/>
                  </a:ext>
                </a:extLst>
              </p:cNvPr>
              <p:cNvSpPr/>
              <p:nvPr/>
            </p:nvSpPr>
            <p:spPr>
              <a:xfrm>
                <a:off x="8166388" y="1928756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098;p54">
                <a:extLst>
                  <a:ext uri="{FF2B5EF4-FFF2-40B4-BE49-F238E27FC236}">
                    <a16:creationId xmlns:a16="http://schemas.microsoft.com/office/drawing/2014/main" id="{7CAB1803-93E3-8D35-39E0-61CA9ED7ABD1}"/>
                  </a:ext>
                </a:extLst>
              </p:cNvPr>
              <p:cNvSpPr/>
              <p:nvPr/>
            </p:nvSpPr>
            <p:spPr>
              <a:xfrm>
                <a:off x="8166388" y="2066260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099;p54">
                <a:extLst>
                  <a:ext uri="{FF2B5EF4-FFF2-40B4-BE49-F238E27FC236}">
                    <a16:creationId xmlns:a16="http://schemas.microsoft.com/office/drawing/2014/main" id="{B115DF94-D91B-53F6-74AC-0C522B407681}"/>
                  </a:ext>
                </a:extLst>
              </p:cNvPr>
              <p:cNvSpPr/>
              <p:nvPr/>
            </p:nvSpPr>
            <p:spPr>
              <a:xfrm>
                <a:off x="8254733" y="2122090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100;p54">
                <a:extLst>
                  <a:ext uri="{FF2B5EF4-FFF2-40B4-BE49-F238E27FC236}">
                    <a16:creationId xmlns:a16="http://schemas.microsoft.com/office/drawing/2014/main" id="{28F1B110-E89F-0DC4-6691-E5BEC45D6FB1}"/>
                  </a:ext>
                </a:extLst>
              </p:cNvPr>
              <p:cNvSpPr/>
              <p:nvPr/>
            </p:nvSpPr>
            <p:spPr>
              <a:xfrm>
                <a:off x="8251366" y="2038581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101;p54">
                <a:extLst>
                  <a:ext uri="{FF2B5EF4-FFF2-40B4-BE49-F238E27FC236}">
                    <a16:creationId xmlns:a16="http://schemas.microsoft.com/office/drawing/2014/main" id="{BF91FC2B-AE16-1D0D-1D3A-428D14F86270}"/>
                  </a:ext>
                </a:extLst>
              </p:cNvPr>
              <p:cNvSpPr/>
              <p:nvPr/>
            </p:nvSpPr>
            <p:spPr>
              <a:xfrm>
                <a:off x="8371220" y="1959841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102;p54">
                <a:extLst>
                  <a:ext uri="{FF2B5EF4-FFF2-40B4-BE49-F238E27FC236}">
                    <a16:creationId xmlns:a16="http://schemas.microsoft.com/office/drawing/2014/main" id="{11DDAFF3-34CD-FAAD-2DAE-5934693F6618}"/>
                  </a:ext>
                </a:extLst>
              </p:cNvPr>
              <p:cNvSpPr/>
              <p:nvPr/>
            </p:nvSpPr>
            <p:spPr>
              <a:xfrm>
                <a:off x="8364220" y="2088090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103;p54">
                <a:extLst>
                  <a:ext uri="{FF2B5EF4-FFF2-40B4-BE49-F238E27FC236}">
                    <a16:creationId xmlns:a16="http://schemas.microsoft.com/office/drawing/2014/main" id="{D6CEEC87-62F9-BAFE-8CF8-8BC038480624}"/>
                  </a:ext>
                </a:extLst>
              </p:cNvPr>
              <p:cNvSpPr/>
              <p:nvPr/>
            </p:nvSpPr>
            <p:spPr>
              <a:xfrm>
                <a:off x="8483303" y="2032091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104;p54">
                <a:extLst>
                  <a:ext uri="{FF2B5EF4-FFF2-40B4-BE49-F238E27FC236}">
                    <a16:creationId xmlns:a16="http://schemas.microsoft.com/office/drawing/2014/main" id="{8F298596-2690-4490-1EB0-1EFE22B8C4BF}"/>
                  </a:ext>
                </a:extLst>
              </p:cNvPr>
              <p:cNvSpPr/>
              <p:nvPr/>
            </p:nvSpPr>
            <p:spPr>
              <a:xfrm>
                <a:off x="8267755" y="1711052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35B74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105;p54">
                <a:extLst>
                  <a:ext uri="{FF2B5EF4-FFF2-40B4-BE49-F238E27FC236}">
                    <a16:creationId xmlns:a16="http://schemas.microsoft.com/office/drawing/2014/main" id="{EAB93A36-349B-713A-8116-90D44ACBB919}"/>
                  </a:ext>
                </a:extLst>
              </p:cNvPr>
              <p:cNvSpPr/>
              <p:nvPr/>
            </p:nvSpPr>
            <p:spPr>
              <a:xfrm>
                <a:off x="8275732" y="1513612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106;p54">
                <a:extLst>
                  <a:ext uri="{FF2B5EF4-FFF2-40B4-BE49-F238E27FC236}">
                    <a16:creationId xmlns:a16="http://schemas.microsoft.com/office/drawing/2014/main" id="{09ACF12A-C785-3F3B-6F59-99B44EE4C271}"/>
                  </a:ext>
                </a:extLst>
              </p:cNvPr>
              <p:cNvSpPr/>
              <p:nvPr/>
            </p:nvSpPr>
            <p:spPr>
              <a:xfrm>
                <a:off x="8399672" y="1665149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107;p54">
                <a:extLst>
                  <a:ext uri="{FF2B5EF4-FFF2-40B4-BE49-F238E27FC236}">
                    <a16:creationId xmlns:a16="http://schemas.microsoft.com/office/drawing/2014/main" id="{23D64B0E-50D7-C126-6E6D-FCF6E46977C1}"/>
                  </a:ext>
                </a:extLst>
              </p:cNvPr>
              <p:cNvSpPr/>
              <p:nvPr/>
            </p:nvSpPr>
            <p:spPr>
              <a:xfrm>
                <a:off x="8361421" y="1371938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108;p54">
                <a:extLst>
                  <a:ext uri="{FF2B5EF4-FFF2-40B4-BE49-F238E27FC236}">
                    <a16:creationId xmlns:a16="http://schemas.microsoft.com/office/drawing/2014/main" id="{AA5FB729-8956-A0B0-7E74-25673CAE990F}"/>
                  </a:ext>
                </a:extLst>
              </p:cNvPr>
              <p:cNvSpPr/>
              <p:nvPr/>
            </p:nvSpPr>
            <p:spPr>
              <a:xfrm>
                <a:off x="8901495" y="1117628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109;p54">
                <a:extLst>
                  <a:ext uri="{FF2B5EF4-FFF2-40B4-BE49-F238E27FC236}">
                    <a16:creationId xmlns:a16="http://schemas.microsoft.com/office/drawing/2014/main" id="{104375B0-0004-8C7E-44FE-D65120307EB8}"/>
                  </a:ext>
                </a:extLst>
              </p:cNvPr>
              <p:cNvSpPr/>
              <p:nvPr/>
            </p:nvSpPr>
            <p:spPr>
              <a:xfrm>
                <a:off x="9197106" y="1017448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110;p54">
                <a:extLst>
                  <a:ext uri="{FF2B5EF4-FFF2-40B4-BE49-F238E27FC236}">
                    <a16:creationId xmlns:a16="http://schemas.microsoft.com/office/drawing/2014/main" id="{D97DDDE2-5721-CD5E-A86D-FD04DA9A2B2E}"/>
                  </a:ext>
                </a:extLst>
              </p:cNvPr>
              <p:cNvSpPr/>
              <p:nvPr/>
            </p:nvSpPr>
            <p:spPr>
              <a:xfrm>
                <a:off x="9325362" y="1371938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111;p54">
                <a:extLst>
                  <a:ext uri="{FF2B5EF4-FFF2-40B4-BE49-F238E27FC236}">
                    <a16:creationId xmlns:a16="http://schemas.microsoft.com/office/drawing/2014/main" id="{C6F6EE6E-D44E-212E-33FC-F8A81280FD03}"/>
                  </a:ext>
                </a:extLst>
              </p:cNvPr>
              <p:cNvSpPr/>
              <p:nvPr/>
            </p:nvSpPr>
            <p:spPr>
              <a:xfrm>
                <a:off x="9389665" y="1325839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112;p54">
                <a:extLst>
                  <a:ext uri="{FF2B5EF4-FFF2-40B4-BE49-F238E27FC236}">
                    <a16:creationId xmlns:a16="http://schemas.microsoft.com/office/drawing/2014/main" id="{B8BD3C0F-50AF-8770-24B5-5D59BB8647F1}"/>
                  </a:ext>
                </a:extLst>
              </p:cNvPr>
              <p:cNvSpPr/>
              <p:nvPr/>
            </p:nvSpPr>
            <p:spPr>
              <a:xfrm>
                <a:off x="9382935" y="1511359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113;p54">
                <a:extLst>
                  <a:ext uri="{FF2B5EF4-FFF2-40B4-BE49-F238E27FC236}">
                    <a16:creationId xmlns:a16="http://schemas.microsoft.com/office/drawing/2014/main" id="{FA582E58-D1E4-5B2C-F293-D50BE031D402}"/>
                  </a:ext>
                </a:extLst>
              </p:cNvPr>
              <p:cNvSpPr/>
              <p:nvPr/>
            </p:nvSpPr>
            <p:spPr>
              <a:xfrm>
                <a:off x="9100291" y="1736342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114;p54">
                <a:extLst>
                  <a:ext uri="{FF2B5EF4-FFF2-40B4-BE49-F238E27FC236}">
                    <a16:creationId xmlns:a16="http://schemas.microsoft.com/office/drawing/2014/main" id="{3F5F5E09-8125-A331-0C72-681A5A94D13A}"/>
                  </a:ext>
                </a:extLst>
              </p:cNvPr>
              <p:cNvSpPr/>
              <p:nvPr/>
            </p:nvSpPr>
            <p:spPr>
              <a:xfrm>
                <a:off x="8685001" y="2228245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115;p54">
                <a:extLst>
                  <a:ext uri="{FF2B5EF4-FFF2-40B4-BE49-F238E27FC236}">
                    <a16:creationId xmlns:a16="http://schemas.microsoft.com/office/drawing/2014/main" id="{D3C034AB-1426-CCE5-BCCA-2F94B431ACA9}"/>
                  </a:ext>
                </a:extLst>
              </p:cNvPr>
              <p:cNvSpPr/>
              <p:nvPr/>
            </p:nvSpPr>
            <p:spPr>
              <a:xfrm>
                <a:off x="8956718" y="2131956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116;p54">
                <a:extLst>
                  <a:ext uri="{FF2B5EF4-FFF2-40B4-BE49-F238E27FC236}">
                    <a16:creationId xmlns:a16="http://schemas.microsoft.com/office/drawing/2014/main" id="{4AE637FF-08CA-AD0C-227C-9F22CB24D0C7}"/>
                  </a:ext>
                </a:extLst>
              </p:cNvPr>
              <p:cNvSpPr/>
              <p:nvPr/>
            </p:nvSpPr>
            <p:spPr>
              <a:xfrm>
                <a:off x="6583960" y="3059891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117;p54">
                <a:extLst>
                  <a:ext uri="{FF2B5EF4-FFF2-40B4-BE49-F238E27FC236}">
                    <a16:creationId xmlns:a16="http://schemas.microsoft.com/office/drawing/2014/main" id="{50A8F285-97B9-655A-A169-C534C01092C5}"/>
                  </a:ext>
                </a:extLst>
              </p:cNvPr>
              <p:cNvSpPr/>
              <p:nvPr/>
            </p:nvSpPr>
            <p:spPr>
              <a:xfrm>
                <a:off x="8124810" y="2784195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118;p54">
                <a:extLst>
                  <a:ext uri="{FF2B5EF4-FFF2-40B4-BE49-F238E27FC236}">
                    <a16:creationId xmlns:a16="http://schemas.microsoft.com/office/drawing/2014/main" id="{66F01878-1491-9F67-1848-69884F713012}"/>
                  </a:ext>
                </a:extLst>
              </p:cNvPr>
              <p:cNvSpPr/>
              <p:nvPr/>
            </p:nvSpPr>
            <p:spPr>
              <a:xfrm>
                <a:off x="6881702" y="2334473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119;p54">
                <a:extLst>
                  <a:ext uri="{FF2B5EF4-FFF2-40B4-BE49-F238E27FC236}">
                    <a16:creationId xmlns:a16="http://schemas.microsoft.com/office/drawing/2014/main" id="{8F8CEA79-B541-02FD-C88A-F63E11723F54}"/>
                  </a:ext>
                </a:extLst>
              </p:cNvPr>
              <p:cNvSpPr/>
              <p:nvPr/>
            </p:nvSpPr>
            <p:spPr>
              <a:xfrm>
                <a:off x="6785910" y="1231616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120;p54">
                <a:extLst>
                  <a:ext uri="{FF2B5EF4-FFF2-40B4-BE49-F238E27FC236}">
                    <a16:creationId xmlns:a16="http://schemas.microsoft.com/office/drawing/2014/main" id="{8F65D673-D0F0-9E7D-B5EC-7FB8027462A6}"/>
                  </a:ext>
                </a:extLst>
              </p:cNvPr>
              <p:cNvSpPr/>
              <p:nvPr/>
            </p:nvSpPr>
            <p:spPr>
              <a:xfrm>
                <a:off x="6871987" y="1425367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121;p54">
                <a:extLst>
                  <a:ext uri="{FF2B5EF4-FFF2-40B4-BE49-F238E27FC236}">
                    <a16:creationId xmlns:a16="http://schemas.microsoft.com/office/drawing/2014/main" id="{476F1756-34F8-954D-7928-26B1C118DA95}"/>
                  </a:ext>
                </a:extLst>
              </p:cNvPr>
              <p:cNvSpPr/>
              <p:nvPr/>
            </p:nvSpPr>
            <p:spPr>
              <a:xfrm>
                <a:off x="6867633" y="1267593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122;p54">
                <a:extLst>
                  <a:ext uri="{FF2B5EF4-FFF2-40B4-BE49-F238E27FC236}">
                    <a16:creationId xmlns:a16="http://schemas.microsoft.com/office/drawing/2014/main" id="{4B48DA22-14CE-D78D-768A-DAC01A708E92}"/>
                  </a:ext>
                </a:extLst>
              </p:cNvPr>
              <p:cNvSpPr/>
              <p:nvPr/>
            </p:nvSpPr>
            <p:spPr>
              <a:xfrm>
                <a:off x="6675450" y="1235200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123;p54">
                <a:extLst>
                  <a:ext uri="{FF2B5EF4-FFF2-40B4-BE49-F238E27FC236}">
                    <a16:creationId xmlns:a16="http://schemas.microsoft.com/office/drawing/2014/main" id="{EEFF495E-9504-83CC-7940-0EE008E0D9D4}"/>
                  </a:ext>
                </a:extLst>
              </p:cNvPr>
              <p:cNvSpPr/>
              <p:nvPr/>
            </p:nvSpPr>
            <p:spPr>
              <a:xfrm>
                <a:off x="9304603" y="2550506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124;p54">
                <a:extLst>
                  <a:ext uri="{FF2B5EF4-FFF2-40B4-BE49-F238E27FC236}">
                    <a16:creationId xmlns:a16="http://schemas.microsoft.com/office/drawing/2014/main" id="{DE469B2D-2B79-956B-116C-AB9AFB687D8F}"/>
                  </a:ext>
                </a:extLst>
              </p:cNvPr>
              <p:cNvSpPr/>
              <p:nvPr/>
            </p:nvSpPr>
            <p:spPr>
              <a:xfrm>
                <a:off x="9304975" y="2415355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125;p54">
                <a:extLst>
                  <a:ext uri="{FF2B5EF4-FFF2-40B4-BE49-F238E27FC236}">
                    <a16:creationId xmlns:a16="http://schemas.microsoft.com/office/drawing/2014/main" id="{9AF6CFFD-CE03-2DED-A231-FE48C820DDE5}"/>
                  </a:ext>
                </a:extLst>
              </p:cNvPr>
              <p:cNvSpPr/>
              <p:nvPr/>
            </p:nvSpPr>
            <p:spPr>
              <a:xfrm>
                <a:off x="8991706" y="2678757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126;p54">
                <a:extLst>
                  <a:ext uri="{FF2B5EF4-FFF2-40B4-BE49-F238E27FC236}">
                    <a16:creationId xmlns:a16="http://schemas.microsoft.com/office/drawing/2014/main" id="{1394D065-11D4-012E-5047-54EAD6804976}"/>
                  </a:ext>
                </a:extLst>
              </p:cNvPr>
              <p:cNvSpPr/>
              <p:nvPr/>
            </p:nvSpPr>
            <p:spPr>
              <a:xfrm>
                <a:off x="9027189" y="2323625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127;p54">
                <a:extLst>
                  <a:ext uri="{FF2B5EF4-FFF2-40B4-BE49-F238E27FC236}">
                    <a16:creationId xmlns:a16="http://schemas.microsoft.com/office/drawing/2014/main" id="{B0B19F54-B677-321B-5563-27C2524CF2AC}"/>
                  </a:ext>
                </a:extLst>
              </p:cNvPr>
              <p:cNvSpPr/>
              <p:nvPr/>
            </p:nvSpPr>
            <p:spPr>
              <a:xfrm>
                <a:off x="9245840" y="2521481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128;p54">
                <a:extLst>
                  <a:ext uri="{FF2B5EF4-FFF2-40B4-BE49-F238E27FC236}">
                    <a16:creationId xmlns:a16="http://schemas.microsoft.com/office/drawing/2014/main" id="{9983454F-3AD8-B6F6-138C-25456D0CFE2C}"/>
                  </a:ext>
                </a:extLst>
              </p:cNvPr>
              <p:cNvSpPr/>
              <p:nvPr/>
            </p:nvSpPr>
            <p:spPr>
              <a:xfrm>
                <a:off x="9191235" y="2348550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129;p54">
                <a:extLst>
                  <a:ext uri="{FF2B5EF4-FFF2-40B4-BE49-F238E27FC236}">
                    <a16:creationId xmlns:a16="http://schemas.microsoft.com/office/drawing/2014/main" id="{C3B2E91B-F252-6BF0-F24A-713924CDFEB8}"/>
                  </a:ext>
                </a:extLst>
              </p:cNvPr>
              <p:cNvSpPr/>
              <p:nvPr/>
            </p:nvSpPr>
            <p:spPr>
              <a:xfrm>
                <a:off x="9382934" y="2280029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130;p54">
                <a:extLst>
                  <a:ext uri="{FF2B5EF4-FFF2-40B4-BE49-F238E27FC236}">
                    <a16:creationId xmlns:a16="http://schemas.microsoft.com/office/drawing/2014/main" id="{5C302CEC-6383-8427-F8DF-2FFA43D7DA12}"/>
                  </a:ext>
                </a:extLst>
              </p:cNvPr>
              <p:cNvSpPr/>
              <p:nvPr/>
            </p:nvSpPr>
            <p:spPr>
              <a:xfrm>
                <a:off x="9255020" y="2305072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131;p54">
                <a:extLst>
                  <a:ext uri="{FF2B5EF4-FFF2-40B4-BE49-F238E27FC236}">
                    <a16:creationId xmlns:a16="http://schemas.microsoft.com/office/drawing/2014/main" id="{BD3F5054-EED0-E053-9E4E-10DAA4DBBCB7}"/>
                  </a:ext>
                </a:extLst>
              </p:cNvPr>
              <p:cNvSpPr/>
              <p:nvPr/>
            </p:nvSpPr>
            <p:spPr>
              <a:xfrm>
                <a:off x="9314668" y="2202536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132;p54">
                <a:extLst>
                  <a:ext uri="{FF2B5EF4-FFF2-40B4-BE49-F238E27FC236}">
                    <a16:creationId xmlns:a16="http://schemas.microsoft.com/office/drawing/2014/main" id="{3752FC0D-E68D-68C4-9DBC-B6271BC3037A}"/>
                  </a:ext>
                </a:extLst>
              </p:cNvPr>
              <p:cNvSpPr/>
              <p:nvPr/>
            </p:nvSpPr>
            <p:spPr>
              <a:xfrm>
                <a:off x="7289315" y="482996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133;p54">
                <a:extLst>
                  <a:ext uri="{FF2B5EF4-FFF2-40B4-BE49-F238E27FC236}">
                    <a16:creationId xmlns:a16="http://schemas.microsoft.com/office/drawing/2014/main" id="{74F90435-A68D-7EB1-4464-63FC9CBACB4D}"/>
                  </a:ext>
                </a:extLst>
              </p:cNvPr>
              <p:cNvSpPr/>
              <p:nvPr/>
            </p:nvSpPr>
            <p:spPr>
              <a:xfrm>
                <a:off x="9598672" y="2838156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134;p54">
                <a:extLst>
                  <a:ext uri="{FF2B5EF4-FFF2-40B4-BE49-F238E27FC236}">
                    <a16:creationId xmlns:a16="http://schemas.microsoft.com/office/drawing/2014/main" id="{4FCCE44A-6502-20DE-04C4-455D9D5F5C58}"/>
                  </a:ext>
                </a:extLst>
              </p:cNvPr>
              <p:cNvSpPr/>
              <p:nvPr/>
            </p:nvSpPr>
            <p:spPr>
              <a:xfrm>
                <a:off x="10341199" y="3301854"/>
                <a:ext cx="143700" cy="143700"/>
              </a:xfrm>
              <a:prstGeom prst="mathMultiply">
                <a:avLst>
                  <a:gd name="adj1" fmla="val 23520"/>
                </a:avLst>
              </a:pr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64" name="Google Shape;1135;p54">
              <a:extLst>
                <a:ext uri="{FF2B5EF4-FFF2-40B4-BE49-F238E27FC236}">
                  <a16:creationId xmlns:a16="http://schemas.microsoft.com/office/drawing/2014/main" id="{2F8E7917-319D-255B-ED30-8D274909FA42}"/>
                </a:ext>
              </a:extLst>
            </p:cNvPr>
            <p:cNvSpPr/>
            <p:nvPr/>
          </p:nvSpPr>
          <p:spPr>
            <a:xfrm>
              <a:off x="33359275" y="9802761"/>
              <a:ext cx="738600" cy="738600"/>
            </a:xfrm>
            <a:prstGeom prst="ellipse">
              <a:avLst/>
            </a:prstGeom>
            <a:noFill/>
            <a:ln w="9525" cap="flat" cmpd="sng">
              <a:solidFill>
                <a:srgbClr val="1C305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65" name="Google Shape;1136;p54">
              <a:extLst>
                <a:ext uri="{FF2B5EF4-FFF2-40B4-BE49-F238E27FC236}">
                  <a16:creationId xmlns:a16="http://schemas.microsoft.com/office/drawing/2014/main" id="{74CB2024-CFBA-A7D1-8317-852DCE9E2A22}"/>
                </a:ext>
              </a:extLst>
            </p:cNvPr>
            <p:cNvCxnSpPr>
              <a:stCxn id="1364" idx="0"/>
              <a:endCxn id="1309" idx="0"/>
            </p:cNvCxnSpPr>
            <p:nvPr/>
          </p:nvCxnSpPr>
          <p:spPr>
            <a:xfrm rot="10800000" flipH="1">
              <a:off x="33728575" y="9693561"/>
              <a:ext cx="2189100" cy="109200"/>
            </a:xfrm>
            <a:prstGeom prst="straightConnector1">
              <a:avLst/>
            </a:prstGeom>
            <a:noFill/>
            <a:ln w="9525" cap="flat" cmpd="sng">
              <a:solidFill>
                <a:srgbClr val="17161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6" name="Google Shape;1137;p54">
              <a:extLst>
                <a:ext uri="{FF2B5EF4-FFF2-40B4-BE49-F238E27FC236}">
                  <a16:creationId xmlns:a16="http://schemas.microsoft.com/office/drawing/2014/main" id="{0A94C8F5-3F01-90A7-4304-F8EF4DFD283C}"/>
                </a:ext>
              </a:extLst>
            </p:cNvPr>
            <p:cNvCxnSpPr>
              <a:stCxn id="1364" idx="4"/>
            </p:cNvCxnSpPr>
            <p:nvPr/>
          </p:nvCxnSpPr>
          <p:spPr>
            <a:xfrm>
              <a:off x="33728575" y="10541361"/>
              <a:ext cx="2093100" cy="536400"/>
            </a:xfrm>
            <a:prstGeom prst="straightConnector1">
              <a:avLst/>
            </a:prstGeom>
            <a:noFill/>
            <a:ln w="9525" cap="flat" cmpd="sng">
              <a:solidFill>
                <a:srgbClr val="17161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67" name="Google Shape;1138;p54">
              <a:extLst>
                <a:ext uri="{FF2B5EF4-FFF2-40B4-BE49-F238E27FC236}">
                  <a16:creationId xmlns:a16="http://schemas.microsoft.com/office/drawing/2014/main" id="{1908B103-E3D4-4C75-8414-05A46796AF58}"/>
                </a:ext>
              </a:extLst>
            </p:cNvPr>
            <p:cNvSpPr/>
            <p:nvPr/>
          </p:nvSpPr>
          <p:spPr>
            <a:xfrm>
              <a:off x="32357484" y="9376545"/>
              <a:ext cx="2568000" cy="1755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139;p54">
              <a:extLst>
                <a:ext uri="{FF2B5EF4-FFF2-40B4-BE49-F238E27FC236}">
                  <a16:creationId xmlns:a16="http://schemas.microsoft.com/office/drawing/2014/main" id="{C759EFDC-2B22-D868-3CEB-9B98A945AFEE}"/>
                </a:ext>
              </a:extLst>
            </p:cNvPr>
            <p:cNvSpPr/>
            <p:nvPr/>
          </p:nvSpPr>
          <p:spPr>
            <a:xfrm>
              <a:off x="37663930" y="10093782"/>
              <a:ext cx="137700" cy="332400"/>
            </a:xfrm>
            <a:prstGeom prst="rightArrow">
              <a:avLst>
                <a:gd name="adj1" fmla="val 56695"/>
                <a:gd name="adj2" fmla="val 70635"/>
              </a:avLst>
            </a:prstGeom>
            <a:solidFill>
              <a:srgbClr val="787878"/>
            </a:solidFill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2" name="Google Shape;1143;p54">
            <a:extLst>
              <a:ext uri="{FF2B5EF4-FFF2-40B4-BE49-F238E27FC236}">
                <a16:creationId xmlns:a16="http://schemas.microsoft.com/office/drawing/2014/main" id="{54347E57-564F-7C65-98E7-68C8CBB32E2F}"/>
              </a:ext>
            </a:extLst>
          </p:cNvPr>
          <p:cNvSpPr txBox="1"/>
          <p:nvPr/>
        </p:nvSpPr>
        <p:spPr>
          <a:xfrm>
            <a:off x="38221011" y="11848277"/>
            <a:ext cx="4507355" cy="11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dirty="0">
                <a:solidFill>
                  <a:srgbClr val="404040"/>
                </a:solidFill>
                <a:cs typeface="Calibri" panose="020F0502020204030204" pitchFamily="34" charset="0"/>
                <a:sym typeface="Arial"/>
              </a:rPr>
              <a:t>  Relative Geo-Bias Score</a:t>
            </a:r>
          </a:p>
          <a:p>
            <a:pPr algn="ctr">
              <a:lnSpc>
                <a:spcPct val="115000"/>
              </a:lnSpc>
            </a:pPr>
            <a:r>
              <a:rPr lang="en" b="1" dirty="0">
                <a:solidFill>
                  <a:schemeClr val="dk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Difference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between the SSI of the low-performance observations (</a:t>
            </a:r>
            <a:r>
              <a:rPr lang="en" dirty="0">
                <a:solidFill>
                  <a:srgbClr val="C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red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crosses) </a:t>
            </a:r>
          </a:p>
          <a:p>
            <a:pPr algn="ctr">
              <a:lnSpc>
                <a:spcPct val="115000"/>
              </a:lnSpc>
            </a:pP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 the SSI of completely random low-performance observations (</a:t>
            </a:r>
            <a:r>
              <a:rPr lang="en" dirty="0">
                <a:solidFill>
                  <a:srgbClr val="27674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cyan-blue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crosses)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1373" name="Google Shape;1144;p54">
            <a:extLst>
              <a:ext uri="{FF2B5EF4-FFF2-40B4-BE49-F238E27FC236}">
                <a16:creationId xmlns:a16="http://schemas.microsoft.com/office/drawing/2014/main" id="{96B8620D-7DA5-1C5D-644A-6CE74167043B}"/>
              </a:ext>
            </a:extLst>
          </p:cNvPr>
          <p:cNvSpPr txBox="1"/>
          <p:nvPr/>
        </p:nvSpPr>
        <p:spPr>
          <a:xfrm>
            <a:off x="34474669" y="11956651"/>
            <a:ext cx="4106382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404040"/>
                </a:solidFill>
                <a:cs typeface="Calibri" panose="020F0502020204030204" pitchFamily="34" charset="0"/>
                <a:sym typeface="Arial"/>
              </a:rPr>
              <a:t>Base Geo-Bias Score</a:t>
            </a:r>
            <a:endParaRPr lang="en" sz="2800" b="1" dirty="0">
              <a:solidFill>
                <a:srgbClr val="404040"/>
              </a:solidFill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The SSI of low-performance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observations </a:t>
            </a:r>
            <a:r>
              <a:rPr lang="en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if they are completely randomly distributed</a:t>
            </a:r>
            <a:endParaRPr b="1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145;p54">
            <a:extLst>
              <a:ext uri="{FF2B5EF4-FFF2-40B4-BE49-F238E27FC236}">
                <a16:creationId xmlns:a16="http://schemas.microsoft.com/office/drawing/2014/main" id="{43BB2923-7A32-47A9-9B6C-D54AB6010345}"/>
              </a:ext>
            </a:extLst>
          </p:cNvPr>
          <p:cNvSpPr txBox="1"/>
          <p:nvPr/>
        </p:nvSpPr>
        <p:spPr>
          <a:xfrm>
            <a:off x="30593320" y="11956651"/>
            <a:ext cx="425153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404040"/>
                </a:solidFill>
                <a:cs typeface="Calibri" panose="020F0502020204030204" pitchFamily="34" charset="0"/>
                <a:sym typeface="Arial"/>
              </a:rPr>
              <a:t>Sample Point</a:t>
            </a:r>
            <a:endParaRPr lang="en" sz="2800" b="1" dirty="0">
              <a:solidFill>
                <a:srgbClr val="404040"/>
              </a:solidFill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cs typeface="Calibri" panose="020F0502020204030204" pitchFamily="34" charset="0"/>
                <a:sym typeface="Arial"/>
              </a:rPr>
              <a:t>Extract a low-performance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04040"/>
                </a:solidFill>
                <a:cs typeface="Calibri" panose="020F0502020204030204" pitchFamily="34" charset="0"/>
                <a:sym typeface="Arial"/>
              </a:rPr>
              <a:t>observation’s neighborhood by radius r.</a:t>
            </a:r>
            <a:endParaRPr dirty="0">
              <a:solidFill>
                <a:srgbClr val="404040"/>
              </a:solidFill>
              <a:cs typeface="Calibri" panose="020F0502020204030204" pitchFamily="34" charset="0"/>
              <a:sym typeface="Arial"/>
            </a:endParaRPr>
          </a:p>
        </p:txBody>
      </p:sp>
      <p:pic>
        <p:nvPicPr>
          <p:cNvPr id="1378" name="Picture 1377">
            <a:extLst>
              <a:ext uri="{FF2B5EF4-FFF2-40B4-BE49-F238E27FC236}">
                <a16:creationId xmlns:a16="http://schemas.microsoft.com/office/drawing/2014/main" id="{E7EC9C3A-5BA0-16DA-C852-BA4B1AE4973C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8949" t="11818" r="61748" b="48764"/>
          <a:stretch/>
        </p:blipFill>
        <p:spPr>
          <a:xfrm>
            <a:off x="6373975" y="12407232"/>
            <a:ext cx="6365973" cy="2822214"/>
          </a:xfrm>
          <a:prstGeom prst="rect">
            <a:avLst/>
          </a:prstGeom>
        </p:spPr>
      </p:pic>
      <p:pic>
        <p:nvPicPr>
          <p:cNvPr id="2022" name="Picture 28">
            <a:extLst>
              <a:ext uri="{FF2B5EF4-FFF2-40B4-BE49-F238E27FC236}">
                <a16:creationId xmlns:a16="http://schemas.microsoft.com/office/drawing/2014/main" id="{3E844B3E-8DAC-B35F-C11C-B9F52B3DD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404" y="11746886"/>
            <a:ext cx="917892" cy="1379344"/>
          </a:xfrm>
          <a:prstGeom prst="rect">
            <a:avLst/>
          </a:prstGeom>
          <a:ln w="1905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3" name="Picture 30" descr="Brown Pelican">
            <a:extLst>
              <a:ext uri="{FF2B5EF4-FFF2-40B4-BE49-F238E27FC236}">
                <a16:creationId xmlns:a16="http://schemas.microsoft.com/office/drawing/2014/main" id="{547C5C35-247D-2282-1568-D6679DF0D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892" y="12589476"/>
            <a:ext cx="1073068" cy="1073068"/>
          </a:xfrm>
          <a:prstGeom prst="rect">
            <a:avLst/>
          </a:prstGeom>
          <a:ln w="19050">
            <a:solidFill>
              <a:srgbClr val="C0000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25" name="Straight Connector 2024">
            <a:extLst>
              <a:ext uri="{FF2B5EF4-FFF2-40B4-BE49-F238E27FC236}">
                <a16:creationId xmlns:a16="http://schemas.microsoft.com/office/drawing/2014/main" id="{6CCFFD40-8A0E-90C3-BC9B-2455427DEF38}"/>
              </a:ext>
            </a:extLst>
          </p:cNvPr>
          <p:cNvCxnSpPr>
            <a:cxnSpLocks/>
          </p:cNvCxnSpPr>
          <p:nvPr/>
        </p:nvCxnSpPr>
        <p:spPr>
          <a:xfrm flipV="1">
            <a:off x="7191359" y="13162610"/>
            <a:ext cx="588076" cy="245922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30" name="Straight Connector 2029">
            <a:extLst>
              <a:ext uri="{FF2B5EF4-FFF2-40B4-BE49-F238E27FC236}">
                <a16:creationId xmlns:a16="http://schemas.microsoft.com/office/drawing/2014/main" id="{E2AC43AC-2C5C-CC13-126D-C7D8A59443A6}"/>
              </a:ext>
            </a:extLst>
          </p:cNvPr>
          <p:cNvCxnSpPr>
            <a:cxnSpLocks/>
            <a:endCxn id="2023" idx="1"/>
          </p:cNvCxnSpPr>
          <p:nvPr/>
        </p:nvCxnSpPr>
        <p:spPr>
          <a:xfrm flipV="1">
            <a:off x="9710334" y="13126010"/>
            <a:ext cx="920558" cy="994377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36" name="TextBox 2035">
            <a:extLst>
              <a:ext uri="{FF2B5EF4-FFF2-40B4-BE49-F238E27FC236}">
                <a16:creationId xmlns:a16="http://schemas.microsoft.com/office/drawing/2014/main" id="{4EBFB548-ED4D-515F-1C57-62DF2DD97A89}"/>
              </a:ext>
            </a:extLst>
          </p:cNvPr>
          <p:cNvSpPr txBox="1"/>
          <p:nvPr/>
        </p:nvSpPr>
        <p:spPr>
          <a:xfrm>
            <a:off x="10548334" y="11935716"/>
            <a:ext cx="1180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Brown </a:t>
            </a:r>
          </a:p>
          <a:p>
            <a:pPr algn="ctr"/>
            <a:r>
              <a:rPr lang="en-US" altLang="zh-CN" dirty="0"/>
              <a:t>Pelican</a:t>
            </a:r>
            <a:endParaRPr lang="en-US" dirty="0"/>
          </a:p>
        </p:txBody>
      </p:sp>
      <p:sp>
        <p:nvSpPr>
          <p:cNvPr id="2037" name="TextBox 2036">
            <a:extLst>
              <a:ext uri="{FF2B5EF4-FFF2-40B4-BE49-F238E27FC236}">
                <a16:creationId xmlns:a16="http://schemas.microsoft.com/office/drawing/2014/main" id="{7BB56346-5310-099B-0927-186124F158BB}"/>
              </a:ext>
            </a:extLst>
          </p:cNvPr>
          <p:cNvSpPr txBox="1"/>
          <p:nvPr/>
        </p:nvSpPr>
        <p:spPr>
          <a:xfrm>
            <a:off x="6199369" y="12067398"/>
            <a:ext cx="111705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California </a:t>
            </a:r>
          </a:p>
          <a:p>
            <a:pPr algn="ctr"/>
            <a:r>
              <a:rPr lang="en-US" dirty="0"/>
              <a:t>Pelican</a:t>
            </a:r>
          </a:p>
        </p:txBody>
      </p:sp>
      <p:sp>
        <p:nvSpPr>
          <p:cNvPr id="2042" name="TextBox 2041">
            <a:extLst>
              <a:ext uri="{FF2B5EF4-FFF2-40B4-BE49-F238E27FC236}">
                <a16:creationId xmlns:a16="http://schemas.microsoft.com/office/drawing/2014/main" id="{0F83BCCB-8959-FCEB-5D68-05D1324A8C9B}"/>
              </a:ext>
            </a:extLst>
          </p:cNvPr>
          <p:cNvSpPr txBox="1"/>
          <p:nvPr/>
        </p:nvSpPr>
        <p:spPr>
          <a:xfrm>
            <a:off x="24221252" y="23468671"/>
            <a:ext cx="5406271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3500" b="1" i="1" dirty="0">
                <a:solidFill>
                  <a:srgbClr val="404040"/>
                </a:solidFill>
                <a:ea typeface="等线"/>
                <a:cs typeface="Arial"/>
              </a:rPr>
              <a:t>Classification</a:t>
            </a:r>
            <a:r>
              <a:rPr lang="zh-CN" altLang="en-US" sz="3500" b="1" i="1" dirty="0">
                <a:solidFill>
                  <a:srgbClr val="404040"/>
                </a:solidFill>
                <a:ea typeface="等线"/>
                <a:cs typeface="Arial"/>
              </a:rPr>
              <a:t> </a:t>
            </a:r>
            <a:r>
              <a:rPr lang="en-US" altLang="zh-CN" sz="3500" b="1" i="1" dirty="0">
                <a:solidFill>
                  <a:srgbClr val="404040"/>
                </a:solidFill>
                <a:ea typeface="等线"/>
                <a:cs typeface="Arial"/>
              </a:rPr>
              <a:t>Task</a:t>
            </a:r>
          </a:p>
          <a:p>
            <a:r>
              <a:rPr lang="en-US" sz="3500" dirty="0">
                <a:solidFill>
                  <a:srgbClr val="404040"/>
                </a:solidFill>
                <a:latin typeface="Calibri" panose="020F0502020204030204"/>
                <a:ea typeface="等线"/>
                <a:cs typeface="Arial"/>
              </a:rPr>
              <a:t>image and location data are processed separately and combined via element-wise multiplication.</a:t>
            </a:r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C2DDC82A-0989-CDA6-4CBA-E1E025734D92}"/>
              </a:ext>
            </a:extLst>
          </p:cNvPr>
          <p:cNvSpPr txBox="1"/>
          <p:nvPr/>
        </p:nvSpPr>
        <p:spPr>
          <a:xfrm>
            <a:off x="24158747" y="28372768"/>
            <a:ext cx="5815396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500" b="1" i="1" dirty="0">
                <a:solidFill>
                  <a:srgbClr val="404040"/>
                </a:solidFill>
                <a:ea typeface="等线"/>
                <a:cs typeface="Arial"/>
              </a:rPr>
              <a:t>Regression Task</a:t>
            </a:r>
          </a:p>
          <a:p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/>
                <a:ea typeface="等线"/>
                <a:cs typeface="Arial"/>
              </a:rPr>
              <a:t>Image and location embeddings are concatenated and fed into a neural network to predict a continuous value.</a:t>
            </a:r>
            <a:endParaRPr lang="en-US" dirty="0"/>
          </a:p>
        </p:txBody>
      </p:sp>
      <p:pic>
        <p:nvPicPr>
          <p:cNvPr id="3347" name="Picture 3346">
            <a:extLst>
              <a:ext uri="{FF2B5EF4-FFF2-40B4-BE49-F238E27FC236}">
                <a16:creationId xmlns:a16="http://schemas.microsoft.com/office/drawing/2014/main" id="{EE061790-EA8A-48D4-094E-F603DB51680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419237" y="6653085"/>
            <a:ext cx="15065945" cy="145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8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</TotalTime>
  <Words>739</Words>
  <Application>Microsoft Macintosh PowerPoint</Application>
  <PresentationFormat>Custom</PresentationFormat>
  <Paragraphs>93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等线</vt:lpstr>
      <vt:lpstr>Aptos</vt:lpstr>
      <vt:lpstr>Arial</vt:lpstr>
      <vt:lpstr>Arial Nova</vt:lpstr>
      <vt:lpstr>Calibri</vt:lpstr>
      <vt:lpstr>Calibri Light</vt:lpstr>
      <vt:lpstr>Comic Sans MS</vt:lpstr>
      <vt:lpstr>DIN Condensed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Nemin</dc:title>
  <dc:creator>N E</dc:creator>
  <cp:lastModifiedBy>Nemin Wu</cp:lastModifiedBy>
  <cp:revision>112</cp:revision>
  <dcterms:created xsi:type="dcterms:W3CDTF">2022-02-17T04:41:50Z</dcterms:created>
  <dcterms:modified xsi:type="dcterms:W3CDTF">2025-05-21T18:44:15Z</dcterms:modified>
</cp:coreProperties>
</file>